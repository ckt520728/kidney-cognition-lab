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colleagues. Today I am presenting our work on Holo-Hilbert Spectral Analysis, or HHSA, as a unifying mathematical framework for body signals across the brain, cardiovascular system, and human metabolism. Traditional spectral analysis assumes stationarity and treats biological rhythms as independent sums of sinusoids. But human physiology is intrinsically non-linear and non-stationary: slower physiological rhythms systematically modulate the amplitudes of faster carrier oscillations. Over the next twenty slides, following the SOIL framework, we will explore why traditional one-dimensional spectra fall short, how two-layer decomposition constructs a continuous three-dimensional energy cube, and how this reveals nested dynamics across continuous glucose monitoring, wearable heart rate variability, and neurodegenerative disease.</a:t>
            </a:r>
          </a:p>
          <a:p/>
          <a:p>
            <a:r>
              <a:t>[Live companion: explorer.html#slide-1]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Biological organisms are multi-scale systems where physical processes at different temporal scales do not operate in isolation. In the central nervous system, theta rhythms modulate gamma bursts during memory encoding. In the cardiovascular system, slow vasomotor tone and Mayer waves at point one Hertz continuously modulate respiratory sinus arrhythmia at point two five Hertz. In metabolism, the master twenty-four hour circadian clock modulates ultradian insulin secretion pulses and postprandial glycemic excursions. When clinicians and researchers inspect these signals, they frequently look only at aggregate summary numbers or static averages. However, the true physiological code is nested amplitude modulation, which reflects real-time multi-organ coupling and regulatory feedback across disparate time scales.</a:t>
            </a:r>
          </a:p>
          <a:p/>
          <a:p>
            <a:r>
              <a:t>[Live companion: explorer.html#slide-2]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happens when you analyze an amplitude-modulated biological signal with a classical Fourier transform or static power spectrum? Fourier analysis projects the signal onto infinite, stationary sinusoids with constant amplitudes and phases. When a carrier wave undergoes amplitude modulation, Fourier mathematics cannot represent the varying amplitude directly. Instead, it generates spurious sideband frequencies on both sides of the carrier, scattering the true physical energy into mathematical artifacts. Furthermore, a one-dimensional power spectrum completely collapses cross-frequency interactions. You cannot tell whether two spectral peaks represent two independent, uncoupled physiological pacemakers or a single carrier rhythm whose strength is being modulated by a slower physiological cycle.</a:t>
            </a:r>
          </a:p>
          <a:p/>
          <a:p>
            <a:r>
              <a:t>[Live companion: explorer.html#slide-3]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capture dynamic interactions, signal processing has produced several important tools, summarized in Table One of our review. Continuous wavelet transforms provide localized time-frequency tracking but remain constrained by a fixed mother wavelet basis and the Heisenberg-Gabor uncertainty principle. Phase-Amplitude Coupling, or PAC, identifies coupling between the phase of a slow band and the amplitude of a fast band. However, conventional PAC relies on narrow bandpass filters that introduce harmonic distortion and phase delay, and it discretizes continuous dynamics into arbitrary frequency bins. Higher-order bispectral analysis detects quadratic phase coupling but requires long stationary epochs. HHSA overcomes these constraints through adaptive, data-driven sifting.</a:t>
            </a:r>
          </a:p>
          <a:p/>
          <a:p>
            <a:r>
              <a:t>[Live companion: explorer.html#slide-4]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insight of Holo-Hilbert Spectral Analysis, introduced by Norden Huang in 2016, is that resolving amplitude modulation requires decomposing the signal twice. In the first layer, the raw physiological signal undergoes noise-assisted Empirical Mode Decomposition, such as EEMD or CEEMDAN, yielding a finite set of Intrinsic Mode Functions. Each IMF admits a well-behaved instantaneous frequency and instantaneous amplitude via the Hilbert transform. In the second layer, rather than discarding the amplitude envelopes, HHSA treats each envelope as an independent physical time series and decomposes it again with empirical mode decomposition. This extracts secondary modulation IMFs, revealing the exact instantaneous frequencies at which the carrier amplitudes fluctuate over time.</a:t>
            </a:r>
          </a:p>
          <a:p/>
          <a:p>
            <a:r>
              <a:t>[Live companion: explorer.html#slide-5]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executing this two-layer decomposition, HHSA expands signal representation from a one-dimensional spectrum into a continuous three-dimensional energy density tensor, H of t, f carrier, and f AM. To make this tensor clinically interpretable, we define three orthogonal marginal projections. Integrating across the modulation axis yields S of t and f carrier, which is the classical Hilbert-Huang time-frequency spectrum. Integrating over time yields C of f carrier and f AM, the carrier-versus-modulation spectrum that maps cross-frequency coupling across the entire recording. Integrating across the carrier axis yields M of t and f AM, illustrating how modulation intensity waxes and wanes over physiological time.</a:t>
            </a:r>
          </a:p>
          <a:p/>
          <a:p>
            <a:r>
              <a:t>[Live companion: explorer.html#slide-6]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mathematical point in the Holo-Hilbert volume is physically meaningful. Two rigorous constraints must be enforced. First is the mathematical admissibility condition: an envelope cannot oscillate faster than the carrier wave it modulates. Coordinates where f AM is greater than or equal to f carrier violate the Bedrosian theorem and represent spline overshoot or mode-mixing artifacts; these must be masked out. Second is the physiological record-length bound: resolving an oscillatory mode reliably via empirical mode decomposition requires at least three complete cycles, meaning frequency must exceed three divided by duration T. For a seven-minute wearable recording, frequencies below point zero zero seven Hertz are unresolvable and must be greyed out.</a:t>
            </a:r>
          </a:p>
          <a:p/>
          <a:p>
            <a:r>
              <a:t>[Live companion: explorer.html#slide-7]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on slide eight, we examine our synthetic ground truth benchmark embedded directly in WebGL. We synthesized a test signal whose carrier drifts between point three five and point six five Hertz while its amplitude rhythm drifts between point zero three and point zero seven Hertz. The pipeline recovered both coordinates within one grid bin in twenty-five of thirty windows, eighty-three percent, short of our ninety percent target. Every miss underestimated the modulation frequency, mostly at the edges of the record: the classic EMD end effect, and the reason to validate before interpreting real data. You can rotate this 3-D volume in real time using your mouse or touch gestures, inspect the energy ridge, or navigate to our dedicated interactive web explorer to explore the slices and band planes in full detail.</a:t>
            </a:r>
          </a:p>
          <a:p/>
          <a:p>
            <a:r>
              <a:t>[Live companion: explorer.html#slide-8]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synthesize the global literature on Holo-Hilbert analysis across human physiology, we conducted a systematic scoping review following PRISMA guidelines. Our initial database queries yielded seven hundred thirty-seven candidate records. After removing duplicates and screening titles and abstracts, we evaluated one hundred thirty full-text studies across five thematic shards. As visualized in our evidence map, neurophysiology represents the largest established domain with thirty-eight studies, while cardiovascular autonomic monitoring accounts for thirty-one studies. Metabolic sensing with continuous glucose monitoring and cross-organ coupling represent pioneering frontiers with twenty-two and fifteen studies respectively, highlighting an immense opportunity for clinical translation in aging research.</a:t>
            </a:r>
          </a:p>
          <a:p/>
          <a:p>
            <a:r>
              <a:t>[Live companion: explorer.html#slide-9]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clinical neuroscience, HHSA has provided unprecedented insight into brain aging and circuit pathophysiology. In Alzheimer's disease and mild cognitive impairment, our group's 2023 study demonstrated that HHSA uncovers severe degradation of delta and theta carrier modulation by infraslow envelopes, reflecting impaired thalamocortical synchrony before overt structural atrophy. In Parkinson's disease, HHSA quantifies pathological beta burst amplitude modulation in basal ganglia loops. In major depressive disorder, prefrontal modulation energy restructures following repetitive transcranial magnetic stimulation. Furthermore, sensory entrainment paradigms like steady-state visual evoked potentials and amplitude-modulated transcranial alternating current stimulation demonstrate that HHSA accurately tracks targeted neural entrainment across multiple cortical layers.</a:t>
            </a:r>
          </a:p>
          <a:p/>
          <a:p>
            <a:r>
              <a:t>[Live companion: explorer.html#slide-10]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cardiovascular physiology, autonomic aging is characterized by progressive vagal withdrawal and impaired arterial baroreflex responsiveness. Traditional frequency-domain heart rate variability divides power into low-frequency and high-frequency bands under the assumption of stationarity. However, real-life wearable data are non-stationary. HHSA isolates how respiratory sinus arrhythmia in the high-frequency band is modulated in real time by Mayer waves in the low-frequency band. Crucially, wearable photoplethysmography sessions are frequently ultra-short-term, often lasting less than ten minutes. In such records, very low-frequency spectral power cannot be resolved under the three-cycle criterion. HHSA provides an honest reporting framework by explicitly demarcating what short wearable recordings can and cannot measure.</a:t>
            </a:r>
          </a:p>
          <a:p/>
          <a:p>
            <a:r>
              <a:t>[Live companion: explorer.html#slide-11]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Metabolic health is governed by dynamic temporal hierarchies. Interstitial glucose reflects interactions between the twenty-four hour circadian pacemaker, ultradian pulsatile insulin secretion every one to four hours, and sharp postprandial meals. The current international consensus metrics—time in range, coefficient of variation, and mean glucose—reduce two weeks of continuous sensor recordings to static scalar summary statistics. They provide zero information regarding circadian phase coherence or the amplitude modulation of meal spikes by background sleep-wake cycles. Because glycemic variability accelerates microvascular damage and cognitive decline in older adults with type two diabetes, applying HHSA to continuous glucose monitoring establishes a dynamic metabolic signature for brain aging.</a:t>
            </a:r>
          </a:p>
          <a:p/>
          <a:p>
            <a:r>
              <a:t>[Live companion: explorer.html#slide-12]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thirteen illustrates our empirical continuous glucose monitoring cube from a de-identified individual recorded over thirteen continuous days, comprising three thousand seven hundred forty-four samples at five-minute intervals. The Nyquist frequency is six cycles per hour. Standard consensus statistics reveal a mean glucose of eight point zero eight millimoles per liter, coefficient of variation of thirty-six point eight percent, and a time in range of sixty-one point seven percent. In the Holo-Hilbert cube, carrier energy is spread across all five bands, and for the ultradian, meal-related and postprandial carriers the strongest modulation band is the circadian one. That is a descriptive observation for one person, and about a fifth of the energy falls in the inadmissible zone, so it has to be masked before any band metric is computed.</a:t>
            </a:r>
          </a:p>
          <a:p/>
          <a:p>
            <a:r>
              <a:t>[Live companion: explorer.html#slide-13]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fourteen, we examine two real Garmin optical heart rate variability recordings from a single individual, each lasting approximately seven minutes. Using fifty Hertz heart rate integration, our preprocessing recovered seven hundred eighteen beats in Session A and six hundred ninety-four in Session B, within about half a percent of the expected counts. RMSSD was eighteen point three milliseconds in Session A and sixteen point five in Session B. In both cubes the carrier energy is dominated by the low-frequency band rather than the respiratory band, and about a fifth of the energy falls below three over T, greyed out because seven minutes cannot resolve it. The two sessions look very similar, so we do not read physiology into their differences.</a:t>
            </a:r>
          </a:p>
          <a:p/>
          <a:p>
            <a:r>
              <a:t>[Live companion: explorer.html#slide-14]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physiology posits that physiological resilience arises from coordinated interactions among organ networks, captured here through amplitude-carrier cross-frequency coupling. A compelling hypothesis in neuroenergetics involves the coupling between hippocampal sharp-wave ripples and peripheral glucose homeostasis. In rodent models, high-frequency ripples during slow-wave sleep stimulate hepatic glucose output through autonomic pathways. In human non-invasive studies, however, non-invasive scalp EEG cannot record individual hippocampal ripples directly, nor can five-minute interstitial glucose measurements track millisecond-level neural bursts. Therefore, we explicitly designate human non-invasive ripple-glucose coupling as an unproven hypothesis that requires rigorous multi-modal recording, surrogate time-series testing, and precise pharmacological perturbations to substantiate.</a:t>
            </a:r>
          </a:p>
          <a:p/>
          <a:p>
            <a:r>
              <a:t>[Live companion: explorer.html#slide-15]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Applying Holo-Hilbert analysis to biological time series without rigorous methodological safeguards produces misleading conclusions. We highlight five critical pitfalls. First, violating the Nyquist criterion or inadequate sampling rates creates severe aliasing. Second, analyzing records shorter than three cycles of the target rhythm produces unresolvable low-frequency spectral smearing. Third, single-sift empirical mode decomposition suffers from mode mixing, necessitating noise-assisted ensemble methods. Fourth, spline fitting at the beginning and end of finite signals introduces severe boundary distortion, requiring systematic edge trimming of five to ten percent. Finally, failing to mask coordinates where modulation frequency exceeds carrier frequency generates spurious, non-physical amplitude modulation.</a:t>
            </a:r>
          </a:p>
          <a:p/>
          <a:p>
            <a:r>
              <a:t>[Live companion: explorer.html#slide-16]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elevate the reproducibility and rigor of physiological HHSA, Table Three of our review proposes an eight-point reporting standard. Every future study should report: first, the exact decomposition algorithm and ensemble parameters; second, the instantaneous frequency calculation method; third, explicit enforcement of the mathematical admissibility mask; fourth, the minimum resolvable frequency based on three cycles divided by record duration; fifth, the exact boundary trimming percentage; sixth, surrogate data null testing against phase-randomized controls; seventh, transparent ethical provenance and de-identification procedures; and eighth, open-source code availability. Adhering to these eight criteria ensures that published amplitude modulation findings represent authentic physiological coupling rather than numerical artifacts.</a:t>
            </a:r>
          </a:p>
          <a:p/>
          <a:p>
            <a:r>
              <a:t>[Live companion: explorer.html#slide-17]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science and complete reproducibility are core pillars of this initiative. Our entire computational pipeline is implemented in pure Python using only standard library, NumPy, and SciPy, completely avoiding unmaintained third-party decomposition packages. The 3-D coordinate rigs, bounding boxes, and translucent band slabs were constructed using an automated headless Blender script exporting compact glTF models. The interactive web explorer is delivered via Three dot JS using pinned content delivery networks, allowing researchers to explore our pre-calculated float16 tensors directly in any modern browser without installing software. All code, validation logs, and de-identified tensor cubes are openly hosted for community verification.</a:t>
            </a:r>
          </a:p>
          <a:p/>
          <a:p>
            <a:r>
              <a:t>[Live companion: explorer.html#slide-18]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toward the future, the convergence of edge computing and multimodal physiological sensing offers transformative potential for aging research. Low-power microcontroller implementations of empirical mode decomposition will enable smartwatches and smart rings to perform real-time amplitude modulation tracking on the edge. By synchronously capturing continuous EEG, wearable heart rate variability, and continuous glucose monitoring, clinicians will be able to construct unified multi-organ Holo-Hilbert cubes. Longitudinal studies in aging cohorts can evaluate whether the progressive loss of multi-scale amplitude modulation complexity serves as an early digital biomarker for neurodegenerative decline, vascular frailty, and autonomic dysregulation long before irreversible clinical symptoms appear.</a:t>
            </a:r>
          </a:p>
          <a:p/>
          <a:p>
            <a:r>
              <a:t>[Live companion: explorer.html#slide-19]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presentation, three central messages emerge. First, human body signals are intrinsically nested; amplitude modulation represents a primary biological mechanism for multi-scale physiological control. Second, Holo-Hilbert Spectral Analysis resolves this nested architecture by mapping energy into a continuous three-dimensional space of time, carrier frequency, and modulation frequency. Third, physical validity requires strict adherence to mathematical admissibility and record-length bounds. We invite you to explore our interactive 3-D explorer online, read our comprehensive review paper in preparation for Frontiers in Aging Neuroscience, and engage with our educational materials as we advance the frontiers of network physiology in brain aging.</a:t>
            </a:r>
          </a:p>
          <a:p/>
          <a:p>
            <a:r>
              <a:t>[Live companion: explorer.html#slide-20]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457200"/>
            <a:ext cx="11277295" cy="5943600"/>
          </a:xfrm>
          <a:prstGeom prst="roundRect">
            <a:avLst>
              <a:gd name="adj" fmla="val 3000"/>
            </a:avLst>
          </a:prstGeom>
          <a:solidFill>
            <a:srgbClr val="111D3C"/>
          </a:solidFill>
          <a:ln w="1270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352190" y="822960"/>
            <a:ext cx="5486400" cy="329184"/>
          </a:xfrm>
          <a:prstGeom prst="roundRect">
            <a:avLst>
              <a:gd name="adj" fmla="val 30000"/>
            </a:avLst>
          </a:prstGeom>
          <a:solidFill>
            <a:srgbClr val="162248"/>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4DD9CF"/>
                </a:solidFill>
                <a:latin typeface="Consolas"/>
              </a:rPr>
              <a:t>20-SLIDE SOIL ARCHITECTURE • FRONTIERS IN AGING NEUROSCIENCE</a:t>
            </a:r>
          </a:p>
        </p:txBody>
      </p:sp>
      <p:sp>
        <p:nvSpPr>
          <p:cNvPr id="4" name="TextBox 3"/>
          <p:cNvSpPr txBox="1"/>
          <p:nvPr/>
        </p:nvSpPr>
        <p:spPr>
          <a:xfrm>
            <a:off x="914400" y="1371600"/>
            <a:ext cx="10362895" cy="1280160"/>
          </a:xfrm>
          <a:prstGeom prst="rect">
            <a:avLst/>
          </a:prstGeom>
          <a:noFill/>
        </p:spPr>
        <p:txBody>
          <a:bodyPr wrap="square" anchor="t" lIns="50800" rIns="50800" tIns="25400" bIns="25400">
            <a:spAutoFit/>
          </a:bodyPr>
          <a:lstStyle/>
          <a:p>
            <a:pPr algn="ctr">
              <a:lnSpc>
                <a:spcPct val="115000"/>
              </a:lnSpc>
            </a:pPr>
            <a:r>
              <a:rPr sz="3400" b="1" i="0">
                <a:solidFill>
                  <a:srgbClr val="E8F4F8"/>
                </a:solidFill>
                <a:latin typeface="Inter"/>
              </a:rPr>
              <a:t>Holo-Hilbert Spectral Analysis (HHSA) of Physiological Body Signals</a:t>
            </a:r>
          </a:p>
        </p:txBody>
      </p:sp>
      <p:sp>
        <p:nvSpPr>
          <p:cNvPr id="5" name="TextBox 4"/>
          <p:cNvSpPr txBox="1"/>
          <p:nvPr/>
        </p:nvSpPr>
        <p:spPr>
          <a:xfrm>
            <a:off x="1371600" y="2743200"/>
            <a:ext cx="9448495" cy="822960"/>
          </a:xfrm>
          <a:prstGeom prst="rect">
            <a:avLst/>
          </a:prstGeom>
          <a:noFill/>
        </p:spPr>
        <p:txBody>
          <a:bodyPr wrap="square" anchor="t" lIns="50800" rIns="50800" tIns="25400" bIns="25400">
            <a:spAutoFit/>
          </a:bodyPr>
          <a:lstStyle/>
          <a:p>
            <a:pPr algn="ctr">
              <a:lnSpc>
                <a:spcPct val="115000"/>
              </a:lnSpc>
            </a:pPr>
            <a:r>
              <a:rPr sz="1600" b="0" i="0">
                <a:solidFill>
                  <a:srgbClr val="8BA8C4"/>
                </a:solidFill>
                <a:latin typeface="Inter"/>
              </a:rPr>
              <a:t>Unraveling Nested Oscillations, Nonlinear Amplitude Modulation, and Brain–Body Interactions Across Brain, Heart, and Metabolism</a:t>
            </a:r>
          </a:p>
        </p:txBody>
      </p:sp>
      <p:sp>
        <p:nvSpPr>
          <p:cNvPr id="6" name="Rounded Rectangle 5"/>
          <p:cNvSpPr/>
          <p:nvPr/>
        </p:nvSpPr>
        <p:spPr>
          <a:xfrm>
            <a:off x="3352190" y="3840480"/>
            <a:ext cx="5486400" cy="1371600"/>
          </a:xfrm>
          <a:prstGeom prst="roundRect">
            <a:avLst>
              <a:gd name="adj" fmla="val 4000"/>
            </a:avLst>
          </a:prstGeom>
          <a:solidFill>
            <a:srgbClr val="162248"/>
          </a:solidFill>
          <a:ln w="12700">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tIns="101600" bIns="101600"/>
          <a:lstStyle/>
          <a:p>
            <a:pPr algn="ctr"/>
            <a:r>
              <a:rPr sz="1800" b="1">
                <a:solidFill>
                  <a:srgbClr val="4DD9CF"/>
                </a:solidFill>
              </a:rPr>
              <a:t>Kwo-Ta Chu, MD, PhD</a:t>
            </a:r>
          </a:p>
          <a:p>
            <a:pPr algn="ctr">
              <a:lnSpc>
                <a:spcPct val="115000"/>
              </a:lnSpc>
            </a:pPr>
            <a:r>
              <a:rPr sz="1300">
                <a:solidFill>
                  <a:srgbClr val="8BA8C4"/>
                </a:solidFill>
              </a:rPr>
              <a:t>Kidney &amp; Cognition Lab • Department of Internal Medicine</a:t>
            </a:r>
          </a:p>
          <a:p>
            <a:pPr algn="ctr">
              <a:lnSpc>
                <a:spcPct val="115000"/>
              </a:lnSpc>
            </a:pPr>
            <a:r>
              <a:rPr sz="1100">
                <a:solidFill>
                  <a:srgbClr val="4A6580"/>
                </a:solidFill>
                <a:latin typeface="Consolas"/>
              </a:rPr>
              <a:t>Date: October 17, 2026 • Narrative Review • Open Reproducible Framework</a:t>
            </a:r>
          </a:p>
        </p:txBody>
      </p:sp>
      <p:sp>
        <p:nvSpPr>
          <p:cNvPr id="7" name="TextBox 6"/>
          <p:cNvSpPr txBox="1"/>
          <p:nvPr/>
        </p:nvSpPr>
        <p:spPr>
          <a:xfrm>
            <a:off x="1828800" y="5577840"/>
            <a:ext cx="8534095" cy="365760"/>
          </a:xfrm>
          <a:prstGeom prst="rect">
            <a:avLst/>
          </a:prstGeom>
          <a:noFill/>
        </p:spPr>
        <p:txBody>
          <a:bodyPr wrap="square" anchor="t" lIns="50800" rIns="50800" tIns="25400" bIns="25400">
            <a:spAutoFit/>
          </a:bodyPr>
          <a:lstStyle/>
          <a:p>
            <a:pPr algn="ctr">
              <a:lnSpc>
                <a:spcPct val="115000"/>
              </a:lnSpc>
            </a:pPr>
            <a:r>
              <a:rPr sz="1100" b="0" i="0">
                <a:solidFill>
                  <a:srgbClr val="4A6580"/>
                </a:solidFill>
                <a:latin typeface="Consolas"/>
              </a:rPr>
              <a:t>Use ◄ ► or Space to Navigate • Verbatim Speaker Notes Included on Every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87171"/>
                </a:solidFill>
                <a:latin typeface="Consolas"/>
              </a:rPr>
              <a:t>S</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§1 Introduction • Observed Biology</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02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Body Signals Are Nested Oscillations</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Multi-scale biological rhythms continuously modulate one another across organs</a:t>
            </a:r>
          </a:p>
        </p:txBody>
      </p:sp>
      <p:sp>
        <p:nvSpPr>
          <p:cNvPr id="7" name="Rounded Rectangle 6"/>
          <p:cNvSpPr/>
          <p:nvPr/>
        </p:nvSpPr>
        <p:spPr>
          <a:xfrm>
            <a:off x="457200"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Brain (Neural Loops)</a:t>
            </a:r>
          </a:p>
        </p:txBody>
      </p:sp>
      <p:sp>
        <p:nvSpPr>
          <p:cNvPr id="9" name="TextBox 8"/>
          <p:cNvSpPr txBox="1"/>
          <p:nvPr/>
        </p:nvSpPr>
        <p:spPr>
          <a:xfrm>
            <a:off x="594360"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Theta–Gamma Phase-Amplitude Coupling: Slower theta cycles (4–8 Hz) modulate the envelope of high-frequency gamma oscillations (30–80 Hz) during memory formation.</a:t>
            </a:r>
          </a:p>
        </p:txBody>
      </p:sp>
      <p:sp>
        <p:nvSpPr>
          <p:cNvPr id="10" name="TextBox 9"/>
          <p:cNvSpPr txBox="1"/>
          <p:nvPr/>
        </p:nvSpPr>
        <p:spPr>
          <a:xfrm>
            <a:off x="594360"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Infraslow modulation (&lt; 0.1 Hz) coordinates sleep spindles and cortical slow waves.</a:t>
            </a:r>
          </a:p>
          <a:p>
            <a:pPr algn="l">
              <a:lnSpc>
                <a:spcPct val="115000"/>
              </a:lnSpc>
              <a:spcAft>
                <a:spcPts val="600"/>
              </a:spcAft>
            </a:pPr>
            <a:r>
              <a:rPr sz="1150">
                <a:solidFill>
                  <a:srgbClr val="4DD9CF"/>
                </a:solidFill>
                <a:latin typeface="Inter"/>
              </a:rPr>
              <a:t>• </a:t>
            </a:r>
            <a:r>
              <a:rPr sz="1150">
                <a:solidFill>
                  <a:srgbClr val="8BA8C4"/>
                </a:solidFill>
                <a:latin typeface="Inter"/>
              </a:rPr>
              <a:t>Thalamocortical loops produce nested carrier-envelope dynamics, not isolated frequencies.</a:t>
            </a:r>
          </a:p>
        </p:txBody>
      </p:sp>
      <p:sp>
        <p:nvSpPr>
          <p:cNvPr id="11" name="Rounded Rectangle 10"/>
          <p:cNvSpPr/>
          <p:nvPr/>
        </p:nvSpPr>
        <p:spPr>
          <a:xfrm>
            <a:off x="4288536"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25696"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Heart (Autonomic Tone)</a:t>
            </a:r>
          </a:p>
        </p:txBody>
      </p:sp>
      <p:sp>
        <p:nvSpPr>
          <p:cNvPr id="13" name="TextBox 12"/>
          <p:cNvSpPr txBox="1"/>
          <p:nvPr/>
        </p:nvSpPr>
        <p:spPr>
          <a:xfrm>
            <a:off x="4425696"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Baroreflex &amp; Respiratory Modulations: Respiratory sinus arrhythmia (HF ~0.25 Hz) does not beat in isolation.</a:t>
            </a:r>
          </a:p>
        </p:txBody>
      </p:sp>
      <p:sp>
        <p:nvSpPr>
          <p:cNvPr id="14" name="TextBox 13"/>
          <p:cNvSpPr txBox="1"/>
          <p:nvPr/>
        </p:nvSpPr>
        <p:spPr>
          <a:xfrm>
            <a:off x="4425696"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Mayer waves (~0.1 Hz, LF) amplitude-modulate vagal respiratory peaks via arterial baroreceptors.</a:t>
            </a:r>
          </a:p>
          <a:p>
            <a:pPr algn="l">
              <a:lnSpc>
                <a:spcPct val="115000"/>
              </a:lnSpc>
              <a:spcAft>
                <a:spcPts val="600"/>
              </a:spcAft>
            </a:pPr>
            <a:r>
              <a:rPr sz="1150">
                <a:solidFill>
                  <a:srgbClr val="4DD9CF"/>
                </a:solidFill>
                <a:latin typeface="Inter"/>
              </a:rPr>
              <a:t>• </a:t>
            </a:r>
            <a:r>
              <a:rPr sz="1150">
                <a:solidFill>
                  <a:srgbClr val="8BA8C4"/>
                </a:solidFill>
                <a:latin typeface="Inter"/>
              </a:rPr>
              <a:t>Circadian sympathetic tone (~24 h) shifts total carrier power and envelope depth across sleep/wake states.</a:t>
            </a:r>
          </a:p>
        </p:txBody>
      </p:sp>
      <p:sp>
        <p:nvSpPr>
          <p:cNvPr id="15" name="Rounded Rectangle 14"/>
          <p:cNvSpPr/>
          <p:nvPr/>
        </p:nvSpPr>
        <p:spPr>
          <a:xfrm>
            <a:off x="8119872"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57032"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Metabolism (Glucose Rhythms)</a:t>
            </a:r>
          </a:p>
        </p:txBody>
      </p:sp>
      <p:sp>
        <p:nvSpPr>
          <p:cNvPr id="17" name="TextBox 16"/>
          <p:cNvSpPr txBox="1"/>
          <p:nvPr/>
        </p:nvSpPr>
        <p:spPr>
          <a:xfrm>
            <a:off x="8257032"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Endocrine &amp; Circadian Nesting: Interstitial continuous glucose dynamics span multiple coupled tiers.</a:t>
            </a:r>
          </a:p>
        </p:txBody>
      </p:sp>
      <p:sp>
        <p:nvSpPr>
          <p:cNvPr id="18" name="TextBox 17"/>
          <p:cNvSpPr txBox="1"/>
          <p:nvPr/>
        </p:nvSpPr>
        <p:spPr>
          <a:xfrm>
            <a:off x="8257032"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24-hour circadian baseline acts as a slow modulator.</a:t>
            </a:r>
          </a:p>
          <a:p>
            <a:pPr algn="l">
              <a:lnSpc>
                <a:spcPct val="115000"/>
              </a:lnSpc>
              <a:spcAft>
                <a:spcPts val="600"/>
              </a:spcAft>
            </a:pPr>
            <a:r>
              <a:rPr sz="1150">
                <a:solidFill>
                  <a:srgbClr val="4DD9CF"/>
                </a:solidFill>
                <a:latin typeface="Inter"/>
              </a:rPr>
              <a:t>• </a:t>
            </a:r>
            <a:r>
              <a:rPr sz="1150">
                <a:solidFill>
                  <a:srgbClr val="8BA8C4"/>
                </a:solidFill>
                <a:latin typeface="Inter"/>
              </a:rPr>
              <a:t>Pulsatile ultradian insulin secretion (1–4 h) and postprandial meal spikes (0.25–0.5 c/h) ride upon this baseline.</a:t>
            </a:r>
          </a:p>
        </p:txBody>
      </p:sp>
      <p:sp>
        <p:nvSpPr>
          <p:cNvPr id="19" name="Rounded Rectangle 18"/>
          <p:cNvSpPr/>
          <p:nvPr/>
        </p:nvSpPr>
        <p:spPr>
          <a:xfrm>
            <a:off x="457200" y="5394960"/>
            <a:ext cx="11277295" cy="868680"/>
          </a:xfrm>
          <a:prstGeom prst="roundRect">
            <a:avLst>
              <a:gd name="adj" fmla="val 2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b="1" sz="1250">
                <a:solidFill>
                  <a:srgbClr val="4DD9CF"/>
                </a:solidFill>
                <a:latin typeface="Inter"/>
              </a:rPr>
              <a:t>Biological Reality: </a:t>
            </a:r>
            <a:r>
              <a:rPr sz="1250">
                <a:solidFill>
                  <a:srgbClr val="E8F4F8"/>
                </a:solidFill>
                <a:latin typeface="Consolas"/>
              </a:rPr>
              <a:t>Physiological signals x(t) = sum a_i(t) · cos(phi_i(t)), where the instantaneous envelope a_i(t) is itself a multi-scale oscillatory process.</a:t>
            </a:r>
          </a:p>
        </p:txBody>
      </p:sp>
      <p:sp>
        <p:nvSpPr>
          <p:cNvPr id="20" name="TextBox 19"/>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21" name="TextBox 20"/>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2 of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87171"/>
                </a:solidFill>
                <a:latin typeface="Consolas"/>
              </a:rPr>
              <a:t>S</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§1, §2 Mathematical Limits • Derived Limit</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03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What a 1-D Spectrum Throws Away</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Fourier and classical spectra mischaracterize amplitude modulation as spurious sidebands</a:t>
            </a:r>
          </a:p>
        </p:txBody>
      </p:sp>
      <p:sp>
        <p:nvSpPr>
          <p:cNvPr id="7" name="Rounded Rectangle 6"/>
          <p:cNvSpPr/>
          <p:nvPr/>
        </p:nvSpPr>
        <p:spPr>
          <a:xfrm>
            <a:off x="457200" y="1691640"/>
            <a:ext cx="5394960" cy="23774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01368"/>
            <a:ext cx="502920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The Sideband Fallacy</a:t>
            </a:r>
          </a:p>
        </p:txBody>
      </p:sp>
      <p:sp>
        <p:nvSpPr>
          <p:cNvPr id="9" name="TextBox 8"/>
          <p:cNvSpPr txBox="1"/>
          <p:nvPr/>
        </p:nvSpPr>
        <p:spPr>
          <a:xfrm>
            <a:off x="640080" y="2130552"/>
            <a:ext cx="5029200" cy="59436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When an amplitude-modulated carrier wave is analyzed with Fourier or stationary wavelets, trigonometry dictates artificial sidebands:</a:t>
            </a:r>
          </a:p>
        </p:txBody>
      </p:sp>
      <p:sp>
        <p:nvSpPr>
          <p:cNvPr id="10" name="Rounded Rectangle 9"/>
          <p:cNvSpPr/>
          <p:nvPr/>
        </p:nvSpPr>
        <p:spPr>
          <a:xfrm>
            <a:off x="640080" y="2743200"/>
            <a:ext cx="5029200" cy="502920"/>
          </a:xfrm>
          <a:prstGeom prst="roundRect">
            <a:avLst>
              <a:gd name="adj" fmla="val 2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x(t) = [1 + m · cos(w_AM t)] · cos(w_c t) = cos(w_c t) + 1/2 m · cos((w_c - w_AM)t) + 1/2 m · cos((w_c + w_AM)t)</a:t>
            </a:r>
          </a:p>
        </p:txBody>
      </p:sp>
      <p:sp>
        <p:nvSpPr>
          <p:cNvPr id="11" name="TextBox 10"/>
          <p:cNvSpPr txBox="1"/>
          <p:nvPr/>
        </p:nvSpPr>
        <p:spPr>
          <a:xfrm>
            <a:off x="640080" y="3319272"/>
            <a:ext cx="5029200" cy="685800"/>
          </a:xfrm>
          <a:prstGeom prst="rect">
            <a:avLst/>
          </a:prstGeom>
          <a:noFill/>
        </p:spPr>
        <p:txBody>
          <a:bodyPr wrap="square" anchor="t" lIns="50800" rIns="50800" tIns="25400" bIns="25400">
            <a:normAutofit/>
          </a:bodyPr>
          <a:lstStyle/>
          <a:p>
            <a:pPr algn="l">
              <a:lnSpc>
                <a:spcPct val="115000"/>
              </a:lnSpc>
              <a:spcAft>
                <a:spcPts val="400"/>
              </a:spcAft>
            </a:pPr>
            <a:r>
              <a:rPr sz="1100">
                <a:solidFill>
                  <a:srgbClr val="4DD9CF"/>
                </a:solidFill>
                <a:latin typeface="Inter"/>
              </a:rPr>
              <a:t>• </a:t>
            </a:r>
            <a:r>
              <a:rPr sz="1100" b="1">
                <a:solidFill>
                  <a:srgbClr val="E8F4F8"/>
                </a:solidFill>
                <a:latin typeface="Inter"/>
              </a:rPr>
              <a:t>Physical reality:</a:t>
            </a:r>
            <a:r>
              <a:rPr sz="1100">
                <a:solidFill>
                  <a:srgbClr val="8BA8C4"/>
                </a:solidFill>
                <a:latin typeface="Inter"/>
              </a:rPr>
              <a:t> ONE carrier wave and ONE modulation envelope.</a:t>
            </a:r>
          </a:p>
          <a:p>
            <a:pPr algn="l">
              <a:lnSpc>
                <a:spcPct val="115000"/>
              </a:lnSpc>
              <a:spcAft>
                <a:spcPts val="400"/>
              </a:spcAft>
            </a:pPr>
            <a:r>
              <a:rPr sz="1100">
                <a:solidFill>
                  <a:srgbClr val="4DD9CF"/>
                </a:solidFill>
                <a:latin typeface="Inter"/>
              </a:rPr>
              <a:t>• </a:t>
            </a:r>
            <a:r>
              <a:rPr sz="1100" b="1">
                <a:solidFill>
                  <a:srgbClr val="E8F4F8"/>
                </a:solidFill>
                <a:latin typeface="Inter"/>
              </a:rPr>
              <a:t>Fourier mathematics:</a:t>
            </a:r>
            <a:r>
              <a:rPr sz="1100">
                <a:solidFill>
                  <a:srgbClr val="8BA8C4"/>
                </a:solidFill>
                <a:latin typeface="Inter"/>
              </a:rPr>
              <a:t> THREE uncoupled stationary sinusoids, scattering energy.</a:t>
            </a:r>
          </a:p>
        </p:txBody>
      </p:sp>
      <p:sp>
        <p:nvSpPr>
          <p:cNvPr id="12" name="Rounded Rectangle 11"/>
          <p:cNvSpPr/>
          <p:nvPr/>
        </p:nvSpPr>
        <p:spPr>
          <a:xfrm>
            <a:off x="457200" y="4206240"/>
            <a:ext cx="5394960" cy="20574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315968"/>
            <a:ext cx="502920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The Ambiguity of 1-D Power</a:t>
            </a:r>
          </a:p>
        </p:txBody>
      </p:sp>
      <p:sp>
        <p:nvSpPr>
          <p:cNvPr id="14" name="TextBox 13"/>
          <p:cNvSpPr txBox="1"/>
          <p:nvPr/>
        </p:nvSpPr>
        <p:spPr>
          <a:xfrm>
            <a:off x="640080" y="4645152"/>
            <a:ext cx="5029200" cy="59436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A conventional 1-D power spectral density (PSD) or spectrogram S(f) collapses cross-frequency interactions. It cannot answer:</a:t>
            </a:r>
          </a:p>
        </p:txBody>
      </p:sp>
      <p:sp>
        <p:nvSpPr>
          <p:cNvPr id="15" name="TextBox 14"/>
          <p:cNvSpPr txBox="1"/>
          <p:nvPr/>
        </p:nvSpPr>
        <p:spPr>
          <a:xfrm>
            <a:off x="640080" y="5257800"/>
            <a:ext cx="5029200" cy="91440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Are peaks at f_1 and f_2 two independent, uncoupled pacemakers?</a:t>
            </a:r>
          </a:p>
          <a:p>
            <a:pPr algn="l">
              <a:lnSpc>
                <a:spcPct val="115000"/>
              </a:lnSpc>
              <a:spcAft>
                <a:spcPts val="600"/>
              </a:spcAft>
            </a:pPr>
            <a:r>
              <a:rPr sz="1150">
                <a:solidFill>
                  <a:srgbClr val="4DD9CF"/>
                </a:solidFill>
                <a:latin typeface="Inter"/>
              </a:rPr>
              <a:t>• </a:t>
            </a:r>
            <a:r>
              <a:rPr sz="1150">
                <a:solidFill>
                  <a:srgbClr val="8BA8C4"/>
                </a:solidFill>
                <a:latin typeface="Inter"/>
              </a:rPr>
              <a:t>Or is f_1 a carrier whose amplitude is dynamically paced by f_2?</a:t>
            </a:r>
          </a:p>
        </p:txBody>
      </p:sp>
      <p:sp>
        <p:nvSpPr>
          <p:cNvPr id="16" name="Rounded Rectangle 15"/>
          <p:cNvSpPr/>
          <p:nvPr/>
        </p:nvSpPr>
        <p:spPr>
          <a:xfrm>
            <a:off x="6108192" y="1691640"/>
            <a:ext cx="5623560" cy="45720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1_concept_cube.png"/>
          <p:cNvPicPr>
            <a:picLocks noChangeAspect="1"/>
          </p:cNvPicPr>
          <p:nvPr/>
        </p:nvPicPr>
        <p:blipFill>
          <a:blip r:embed="rId2"/>
          <a:stretch>
            <a:fillRect/>
          </a:stretch>
        </p:blipFill>
        <p:spPr>
          <a:xfrm>
            <a:off x="6291072" y="2645074"/>
            <a:ext cx="5257800" cy="2390810"/>
          </a:xfrm>
          <a:prstGeom prst="rect">
            <a:avLst/>
          </a:prstGeom>
        </p:spPr>
      </p:pic>
      <p:sp>
        <p:nvSpPr>
          <p:cNvPr id="18" name="TextBox 17"/>
          <p:cNvSpPr txBox="1"/>
          <p:nvPr/>
        </p:nvSpPr>
        <p:spPr>
          <a:xfrm>
            <a:off x="6291072" y="5086685"/>
            <a:ext cx="5257800" cy="274320"/>
          </a:xfrm>
          <a:prstGeom prst="rect">
            <a:avLst/>
          </a:prstGeom>
          <a:noFill/>
        </p:spPr>
        <p:txBody>
          <a:bodyPr wrap="square" anchor="t" lIns="50800" rIns="50800" tIns="25400" bIns="25400">
            <a:spAutoFit/>
          </a:bodyPr>
          <a:lstStyle/>
          <a:p>
            <a:pPr algn="ctr">
              <a:lnSpc>
                <a:spcPct val="115000"/>
              </a:lnSpc>
            </a:pPr>
            <a:r>
              <a:rPr sz="950" b="0" i="0">
                <a:solidFill>
                  <a:srgbClr val="4A6580"/>
                </a:solidFill>
                <a:latin typeface="Consolas"/>
              </a:rPr>
              <a:t>Figure F1: 1-D collapsing vs. 3-D Holo-Hilbert expansion (t, f_carrier, f_AM).</a:t>
            </a:r>
          </a:p>
        </p:txBody>
      </p:sp>
      <p:sp>
        <p:nvSpPr>
          <p:cNvPr id="19" name="TextBox 18"/>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20" name="TextBox 19"/>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3 of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87171"/>
                </a:solidFill>
                <a:latin typeface="Consolas"/>
              </a:rPr>
              <a:t>S</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§2, Table 1 Comparison • Comparative Method</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04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Existing Tools &amp; Their Mathematical Assumptions</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Wavelets, Phase-Amplitude Coupling (PAC), and Bispectrum vs. HHSA</a:t>
            </a:r>
          </a:p>
        </p:txBody>
      </p:sp>
      <p:graphicFrame>
        <p:nvGraphicFramePr>
          <p:cNvPr id="7" name="Table 6"/>
          <p:cNvGraphicFramePr>
            <a:graphicFrameLocks noGrp="1"/>
          </p:cNvGraphicFramePr>
          <p:nvPr/>
        </p:nvGraphicFramePr>
        <p:xfrm>
          <a:off x="457200" y="1691640"/>
          <a:ext cx="11277295" cy="3383280"/>
        </p:xfrm>
        <a:graphic>
          <a:graphicData uri="http://schemas.openxmlformats.org/drawingml/2006/table">
            <a:tbl>
              <a:tblPr firstRow="1" bandRow="1">
                <a:tableStyleId>{5C22544A-7EE6-4342-B048-85BDC9FD1C3A}</a:tableStyleId>
              </a:tblPr>
              <a:tblGrid>
                <a:gridCol w="2011680"/>
                <a:gridCol w="2194560"/>
                <a:gridCol w="2377440"/>
                <a:gridCol w="2194560"/>
                <a:gridCol w="2499055"/>
              </a:tblGrid>
              <a:tr h="563880">
                <a:tc>
                  <a:txBody>
                    <a:bodyPr/>
                    <a:lstStyle/>
                    <a:p>
                      <a:pPr algn="l"/>
                      <a:r>
                        <a:rPr b="1" sz="1100">
                          <a:solidFill>
                            <a:srgbClr val="4DD9CF"/>
                          </a:solidFill>
                          <a:latin typeface="Inter"/>
                        </a:rPr>
                        <a:t>Method Dimension</a:t>
                      </a:r>
                    </a:p>
                  </a:txBody>
                  <a:tcPr marL="76200" marR="76200" marT="50800" marB="50800">
                    <a:solidFill>
                      <a:srgbClr val="162248"/>
                    </a:solidFill>
                  </a:tcPr>
                </a:tc>
                <a:tc>
                  <a:txBody>
                    <a:bodyPr/>
                    <a:lstStyle/>
                    <a:p>
                      <a:pPr algn="l"/>
                      <a:r>
                        <a:rPr b="1" sz="1100">
                          <a:solidFill>
                            <a:srgbClr val="4DD9CF"/>
                          </a:solidFill>
                          <a:latin typeface="Inter"/>
                        </a:rPr>
                        <a:t>Wavelet Transform (CWT)</a:t>
                      </a:r>
                    </a:p>
                  </a:txBody>
                  <a:tcPr marL="76200" marR="76200" marT="50800" marB="50800">
                    <a:solidFill>
                      <a:srgbClr val="162248"/>
                    </a:solidFill>
                  </a:tcPr>
                </a:tc>
                <a:tc>
                  <a:txBody>
                    <a:bodyPr/>
                    <a:lstStyle/>
                    <a:p>
                      <a:pPr algn="l"/>
                      <a:r>
                        <a:rPr b="1" sz="1100">
                          <a:solidFill>
                            <a:srgbClr val="4DD9CF"/>
                          </a:solidFill>
                          <a:latin typeface="Inter"/>
                        </a:rPr>
                        <a:t>Phase-Amplitude Coupling (PAC)</a:t>
                      </a:r>
                    </a:p>
                  </a:txBody>
                  <a:tcPr marL="76200" marR="76200" marT="50800" marB="50800">
                    <a:solidFill>
                      <a:srgbClr val="162248"/>
                    </a:solidFill>
                  </a:tcPr>
                </a:tc>
                <a:tc>
                  <a:txBody>
                    <a:bodyPr/>
                    <a:lstStyle/>
                    <a:p>
                      <a:pPr algn="l"/>
                      <a:r>
                        <a:rPr b="1" sz="1100">
                          <a:solidFill>
                            <a:srgbClr val="4DD9CF"/>
                          </a:solidFill>
                          <a:latin typeface="Inter"/>
                        </a:rPr>
                        <a:t>Bispectrum / Bicoherence</a:t>
                      </a:r>
                    </a:p>
                  </a:txBody>
                  <a:tcPr marL="76200" marR="76200" marT="50800" marB="50800">
                    <a:solidFill>
                      <a:srgbClr val="162248"/>
                    </a:solidFill>
                  </a:tcPr>
                </a:tc>
                <a:tc>
                  <a:txBody>
                    <a:bodyPr/>
                    <a:lstStyle/>
                    <a:p>
                      <a:pPr algn="l"/>
                      <a:r>
                        <a:rPr b="1" sz="1100">
                          <a:solidFill>
                            <a:srgbClr val="4DD9CF"/>
                          </a:solidFill>
                          <a:latin typeface="Inter"/>
                        </a:rPr>
                        <a:t>Holo-Hilbert (HHSA)</a:t>
                      </a:r>
                    </a:p>
                  </a:txBody>
                  <a:tcPr marL="76200" marR="76200" marT="50800" marB="50800">
                    <a:solidFill>
                      <a:srgbClr val="162248"/>
                    </a:solidFill>
                  </a:tcPr>
                </a:tc>
              </a:tr>
              <a:tr h="563880">
                <a:tc>
                  <a:txBody>
                    <a:bodyPr/>
                    <a:lstStyle/>
                    <a:p>
                      <a:pPr algn="l"/>
                      <a:r>
                        <a:rPr sz="1050" b="1">
                          <a:solidFill>
                            <a:srgbClr val="E8F4F8"/>
                          </a:solidFill>
                          <a:latin typeface="Inter"/>
                        </a:rPr>
                        <a:t>Basis Function</a:t>
                      </a:r>
                    </a:p>
                  </a:txBody>
                  <a:tcPr marL="76200" marR="76200" marT="50800" marB="50800">
                    <a:solidFill>
                      <a:srgbClr val="111D3C"/>
                    </a:solidFill>
                  </a:tcPr>
                </a:tc>
                <a:tc>
                  <a:txBody>
                    <a:bodyPr/>
                    <a:lstStyle/>
                    <a:p>
                      <a:pPr algn="l"/>
                      <a:r>
                        <a:rPr sz="1050">
                          <a:solidFill>
                            <a:srgbClr val="8BA8C4"/>
                          </a:solidFill>
                          <a:latin typeface="Inter"/>
                        </a:rPr>
                        <a:t>Fixed mother wavelet (e.g. Morlet)</a:t>
                      </a:r>
                    </a:p>
                  </a:txBody>
                  <a:tcPr marL="76200" marR="76200" marT="50800" marB="50800">
                    <a:solidFill>
                      <a:srgbClr val="111D3C"/>
                    </a:solidFill>
                  </a:tcPr>
                </a:tc>
                <a:tc>
                  <a:txBody>
                    <a:bodyPr/>
                    <a:lstStyle/>
                    <a:p>
                      <a:pPr algn="l"/>
                      <a:r>
                        <a:rPr sz="1050">
                          <a:solidFill>
                            <a:srgbClr val="8BA8C4"/>
                          </a:solidFill>
                          <a:latin typeface="Inter"/>
                        </a:rPr>
                        <a:t>Linear bandpass filters</a:t>
                      </a:r>
                    </a:p>
                  </a:txBody>
                  <a:tcPr marL="76200" marR="76200" marT="50800" marB="50800">
                    <a:solidFill>
                      <a:srgbClr val="111D3C"/>
                    </a:solidFill>
                  </a:tcPr>
                </a:tc>
                <a:tc>
                  <a:txBody>
                    <a:bodyPr/>
                    <a:lstStyle/>
                    <a:p>
                      <a:pPr algn="l"/>
                      <a:r>
                        <a:rPr sz="1050">
                          <a:solidFill>
                            <a:srgbClr val="8BA8C4"/>
                          </a:solidFill>
                          <a:latin typeface="Inter"/>
                        </a:rPr>
                        <a:t>Sinusoidal harmonics</a:t>
                      </a:r>
                    </a:p>
                  </a:txBody>
                  <a:tcPr marL="76200" marR="76200" marT="50800" marB="50800">
                    <a:solidFill>
                      <a:srgbClr val="111D3C"/>
                    </a:solidFill>
                  </a:tcPr>
                </a:tc>
                <a:tc>
                  <a:txBody>
                    <a:bodyPr/>
                    <a:lstStyle/>
                    <a:p>
                      <a:pPr algn="l"/>
                      <a:r>
                        <a:rPr sz="1050">
                          <a:solidFill>
                            <a:srgbClr val="8BA8C4"/>
                          </a:solidFill>
                          <a:latin typeface="Inter"/>
                        </a:rPr>
                        <a:t>Adaptive, data-driven IMFs</a:t>
                      </a:r>
                    </a:p>
                  </a:txBody>
                  <a:tcPr marL="76200" marR="76200" marT="50800" marB="50800">
                    <a:solidFill>
                      <a:srgbClr val="111D3C"/>
                    </a:solidFill>
                  </a:tcPr>
                </a:tc>
              </a:tr>
              <a:tr h="563880">
                <a:tc>
                  <a:txBody>
                    <a:bodyPr/>
                    <a:lstStyle/>
                    <a:p>
                      <a:pPr algn="l"/>
                      <a:r>
                        <a:rPr sz="1050" b="1">
                          <a:solidFill>
                            <a:srgbClr val="E8F4F8"/>
                          </a:solidFill>
                          <a:latin typeface="Inter"/>
                        </a:rPr>
                        <a:t>Linearity &amp; Stationarity</a:t>
                      </a:r>
                    </a:p>
                  </a:txBody>
                  <a:tcPr marL="76200" marR="76200" marT="50800" marB="50800">
                    <a:solidFill>
                      <a:srgbClr val="162248"/>
                    </a:solidFill>
                  </a:tcPr>
                </a:tc>
                <a:tc>
                  <a:txBody>
                    <a:bodyPr/>
                    <a:lstStyle/>
                    <a:p>
                      <a:pPr algn="l"/>
                      <a:r>
                        <a:rPr sz="1050">
                          <a:solidFill>
                            <a:srgbClr val="8BA8C4"/>
                          </a:solidFill>
                          <a:latin typeface="Inter"/>
                        </a:rPr>
                        <a:t>Assumes piecewise stationarity</a:t>
                      </a:r>
                    </a:p>
                  </a:txBody>
                  <a:tcPr marL="76200" marR="76200" marT="50800" marB="50800">
                    <a:solidFill>
                      <a:srgbClr val="162248"/>
                    </a:solidFill>
                  </a:tcPr>
                </a:tc>
                <a:tc>
                  <a:txBody>
                    <a:bodyPr/>
                    <a:lstStyle/>
                    <a:p>
                      <a:pPr algn="l"/>
                      <a:r>
                        <a:rPr sz="1050">
                          <a:solidFill>
                            <a:srgbClr val="8BA8C4"/>
                          </a:solidFill>
                          <a:latin typeface="Inter"/>
                        </a:rPr>
                        <a:t>Assumes linear phase within band</a:t>
                      </a:r>
                    </a:p>
                  </a:txBody>
                  <a:tcPr marL="76200" marR="76200" marT="50800" marB="50800">
                    <a:solidFill>
                      <a:srgbClr val="162248"/>
                    </a:solidFill>
                  </a:tcPr>
                </a:tc>
                <a:tc>
                  <a:txBody>
                    <a:bodyPr/>
                    <a:lstStyle/>
                    <a:p>
                      <a:pPr algn="l"/>
                      <a:r>
                        <a:rPr sz="1050">
                          <a:solidFill>
                            <a:srgbClr val="8BA8C4"/>
                          </a:solidFill>
                          <a:latin typeface="Inter"/>
                        </a:rPr>
                        <a:t>Assumes strict stationarity</a:t>
                      </a:r>
                    </a:p>
                  </a:txBody>
                  <a:tcPr marL="76200" marR="76200" marT="50800" marB="50800">
                    <a:solidFill>
                      <a:srgbClr val="162248"/>
                    </a:solidFill>
                  </a:tcPr>
                </a:tc>
                <a:tc>
                  <a:txBody>
                    <a:bodyPr/>
                    <a:lstStyle/>
                    <a:p>
                      <a:pPr algn="l"/>
                      <a:r>
                        <a:rPr sz="1050">
                          <a:solidFill>
                            <a:srgbClr val="8BA8C4"/>
                          </a:solidFill>
                          <a:latin typeface="Inter"/>
                        </a:rPr>
                        <a:t>Fully nonlinear &amp; nonstationary</a:t>
                      </a:r>
                    </a:p>
                  </a:txBody>
                  <a:tcPr marL="76200" marR="76200" marT="50800" marB="50800">
                    <a:solidFill>
                      <a:srgbClr val="162248"/>
                    </a:solidFill>
                  </a:tcPr>
                </a:tc>
              </a:tr>
              <a:tr h="563880">
                <a:tc>
                  <a:txBody>
                    <a:bodyPr/>
                    <a:lstStyle/>
                    <a:p>
                      <a:pPr algn="l"/>
                      <a:r>
                        <a:rPr sz="1050" b="1">
                          <a:solidFill>
                            <a:srgbClr val="E8F4F8"/>
                          </a:solidFill>
                          <a:latin typeface="Inter"/>
                        </a:rPr>
                        <a:t>Cross-Frequency Metric</a:t>
                      </a:r>
                    </a:p>
                  </a:txBody>
                  <a:tcPr marL="76200" marR="76200" marT="50800" marB="50800">
                    <a:solidFill>
                      <a:srgbClr val="111D3C"/>
                    </a:solidFill>
                  </a:tcPr>
                </a:tc>
                <a:tc>
                  <a:txBody>
                    <a:bodyPr/>
                    <a:lstStyle/>
                    <a:p>
                      <a:pPr algn="l"/>
                      <a:r>
                        <a:rPr sz="1050">
                          <a:solidFill>
                            <a:srgbClr val="8BA8C4"/>
                          </a:solidFill>
                          <a:latin typeface="Inter"/>
                        </a:rPr>
                        <a:t>Coherence (phase-locking only)</a:t>
                      </a:r>
                    </a:p>
                  </a:txBody>
                  <a:tcPr marL="76200" marR="76200" marT="50800" marB="50800">
                    <a:solidFill>
                      <a:srgbClr val="111D3C"/>
                    </a:solidFill>
                  </a:tcPr>
                </a:tc>
                <a:tc>
                  <a:txBody>
                    <a:bodyPr/>
                    <a:lstStyle/>
                    <a:p>
                      <a:pPr algn="l"/>
                      <a:r>
                        <a:rPr sz="1050">
                          <a:solidFill>
                            <a:srgbClr val="8BA8C4"/>
                          </a:solidFill>
                          <a:latin typeface="Inter"/>
                        </a:rPr>
                        <a:t>Modulation Index (MI) discrete pair</a:t>
                      </a:r>
                    </a:p>
                  </a:txBody>
                  <a:tcPr marL="76200" marR="76200" marT="50800" marB="50800">
                    <a:solidFill>
                      <a:srgbClr val="111D3C"/>
                    </a:solidFill>
                  </a:tcPr>
                </a:tc>
                <a:tc>
                  <a:txBody>
                    <a:bodyPr/>
                    <a:lstStyle/>
                    <a:p>
                      <a:pPr algn="l"/>
                      <a:r>
                        <a:rPr sz="1050">
                          <a:solidFill>
                            <a:srgbClr val="8BA8C4"/>
                          </a:solidFill>
                          <a:latin typeface="Inter"/>
                        </a:rPr>
                        <a:t>Quadratic phase coupling f1+f2=f3</a:t>
                      </a:r>
                    </a:p>
                  </a:txBody>
                  <a:tcPr marL="76200" marR="76200" marT="50800" marB="50800">
                    <a:solidFill>
                      <a:srgbClr val="111D3C"/>
                    </a:solidFill>
                  </a:tcPr>
                </a:tc>
                <a:tc>
                  <a:txBody>
                    <a:bodyPr/>
                    <a:lstStyle/>
                    <a:p>
                      <a:pPr algn="l"/>
                      <a:r>
                        <a:rPr sz="1050">
                          <a:solidFill>
                            <a:srgbClr val="8BA8C4"/>
                          </a:solidFill>
                          <a:latin typeface="Inter"/>
                        </a:rPr>
                        <a:t>Continuous 3-D tensor H(t, fc, fam)</a:t>
                      </a:r>
                    </a:p>
                  </a:txBody>
                  <a:tcPr marL="76200" marR="76200" marT="50800" marB="50800">
                    <a:solidFill>
                      <a:srgbClr val="111D3C"/>
                    </a:solidFill>
                  </a:tcPr>
                </a:tc>
              </a:tr>
              <a:tr h="563880">
                <a:tc>
                  <a:txBody>
                    <a:bodyPr/>
                    <a:lstStyle/>
                    <a:p>
                      <a:pPr algn="l"/>
                      <a:r>
                        <a:rPr sz="1050" b="1">
                          <a:solidFill>
                            <a:srgbClr val="E8F4F8"/>
                          </a:solidFill>
                          <a:latin typeface="Inter"/>
                        </a:rPr>
                        <a:t>Filter Distortion Risk</a:t>
                      </a:r>
                    </a:p>
                  </a:txBody>
                  <a:tcPr marL="76200" marR="76200" marT="50800" marB="50800">
                    <a:solidFill>
                      <a:srgbClr val="162248"/>
                    </a:solidFill>
                  </a:tcPr>
                </a:tc>
                <a:tc>
                  <a:txBody>
                    <a:bodyPr/>
                    <a:lstStyle/>
                    <a:p>
                      <a:pPr algn="l"/>
                      <a:r>
                        <a:rPr sz="1050">
                          <a:solidFill>
                            <a:srgbClr val="8BA8C4"/>
                          </a:solidFill>
                          <a:latin typeface="Inter"/>
                        </a:rPr>
                        <a:t>Heisenberg-Gabor uncertainty limit</a:t>
                      </a:r>
                    </a:p>
                  </a:txBody>
                  <a:tcPr marL="76200" marR="76200" marT="50800" marB="50800">
                    <a:solidFill>
                      <a:srgbClr val="162248"/>
                    </a:solidFill>
                  </a:tcPr>
                </a:tc>
                <a:tc>
                  <a:txBody>
                    <a:bodyPr/>
                    <a:lstStyle/>
                    <a:p>
                      <a:pPr algn="l"/>
                      <a:r>
                        <a:rPr sz="1050">
                          <a:solidFill>
                            <a:srgbClr val="8BA8C4"/>
                          </a:solidFill>
                          <a:latin typeface="Inter"/>
                        </a:rPr>
                        <a:t>Severe edge ringing &amp; phase shift</a:t>
                      </a:r>
                    </a:p>
                  </a:txBody>
                  <a:tcPr marL="76200" marR="76200" marT="50800" marB="50800">
                    <a:solidFill>
                      <a:srgbClr val="162248"/>
                    </a:solidFill>
                  </a:tcPr>
                </a:tc>
                <a:tc>
                  <a:txBody>
                    <a:bodyPr/>
                    <a:lstStyle/>
                    <a:p>
                      <a:pPr algn="l"/>
                      <a:r>
                        <a:rPr sz="1050">
                          <a:solidFill>
                            <a:srgbClr val="8BA8C4"/>
                          </a:solidFill>
                          <a:latin typeface="Inter"/>
                        </a:rPr>
                        <a:t>Spectral smearing on short epochs</a:t>
                      </a:r>
                    </a:p>
                  </a:txBody>
                  <a:tcPr marL="76200" marR="76200" marT="50800" marB="50800">
                    <a:solidFill>
                      <a:srgbClr val="162248"/>
                    </a:solidFill>
                  </a:tcPr>
                </a:tc>
                <a:tc>
                  <a:txBody>
                    <a:bodyPr/>
                    <a:lstStyle/>
                    <a:p>
                      <a:pPr algn="l"/>
                      <a:r>
                        <a:rPr sz="1050">
                          <a:solidFill>
                            <a:srgbClr val="8BA8C4"/>
                          </a:solidFill>
                          <a:latin typeface="Inter"/>
                        </a:rPr>
                        <a:t>Zero filter-induced distortion</a:t>
                      </a:r>
                    </a:p>
                  </a:txBody>
                  <a:tcPr marL="76200" marR="76200" marT="50800" marB="50800">
                    <a:solidFill>
                      <a:srgbClr val="162248"/>
                    </a:solidFill>
                  </a:tcPr>
                </a:tc>
              </a:tr>
              <a:tr h="563880">
                <a:tc>
                  <a:txBody>
                    <a:bodyPr/>
                    <a:lstStyle/>
                    <a:p>
                      <a:pPr algn="l"/>
                      <a:r>
                        <a:rPr sz="1050" b="1">
                          <a:solidFill>
                            <a:srgbClr val="E8F4F8"/>
                          </a:solidFill>
                          <a:latin typeface="Inter"/>
                        </a:rPr>
                        <a:t>Modulation Output</a:t>
                      </a:r>
                    </a:p>
                  </a:txBody>
                  <a:tcPr marL="76200" marR="76200" marT="50800" marB="50800">
                    <a:solidFill>
                      <a:srgbClr val="111D3C"/>
                    </a:solidFill>
                  </a:tcPr>
                </a:tc>
                <a:tc>
                  <a:txBody>
                    <a:bodyPr/>
                    <a:lstStyle/>
                    <a:p>
                      <a:pPr algn="l"/>
                      <a:r>
                        <a:rPr sz="1050">
                          <a:solidFill>
                            <a:srgbClr val="8BA8C4"/>
                          </a:solidFill>
                          <a:latin typeface="Inter"/>
                        </a:rPr>
                        <a:t>1-D / 2-D time-scale map</a:t>
                      </a:r>
                    </a:p>
                  </a:txBody>
                  <a:tcPr marL="76200" marR="76200" marT="50800" marB="50800">
                    <a:solidFill>
                      <a:srgbClr val="111D3C"/>
                    </a:solidFill>
                  </a:tcPr>
                </a:tc>
                <a:tc>
                  <a:txBody>
                    <a:bodyPr/>
                    <a:lstStyle/>
                    <a:p>
                      <a:pPr algn="l"/>
                      <a:r>
                        <a:rPr sz="1050">
                          <a:solidFill>
                            <a:srgbClr val="8BA8C4"/>
                          </a:solidFill>
                          <a:latin typeface="Inter"/>
                        </a:rPr>
                        <a:t>Scalar coupling index between 2 bands</a:t>
                      </a:r>
                    </a:p>
                  </a:txBody>
                  <a:tcPr marL="76200" marR="76200" marT="50800" marB="50800">
                    <a:solidFill>
                      <a:srgbClr val="111D3C"/>
                    </a:solidFill>
                  </a:tcPr>
                </a:tc>
                <a:tc>
                  <a:txBody>
                    <a:bodyPr/>
                    <a:lstStyle/>
                    <a:p>
                      <a:pPr algn="l"/>
                      <a:r>
                        <a:rPr sz="1050">
                          <a:solidFill>
                            <a:srgbClr val="8BA8C4"/>
                          </a:solidFill>
                          <a:latin typeface="Inter"/>
                        </a:rPr>
                        <a:t>2-D static bifrequency map</a:t>
                      </a:r>
                    </a:p>
                  </a:txBody>
                  <a:tcPr marL="76200" marR="76200" marT="50800" marB="50800">
                    <a:solidFill>
                      <a:srgbClr val="111D3C"/>
                    </a:solidFill>
                  </a:tcPr>
                </a:tc>
                <a:tc>
                  <a:txBody>
                    <a:bodyPr/>
                    <a:lstStyle/>
                    <a:p>
                      <a:pPr algn="l"/>
                      <a:r>
                        <a:rPr sz="1050">
                          <a:solidFill>
                            <a:srgbClr val="8BA8C4"/>
                          </a:solidFill>
                          <a:latin typeface="Inter"/>
                        </a:rPr>
                        <a:t>Instantaneous AM frequency &amp; power</a:t>
                      </a:r>
                    </a:p>
                  </a:txBody>
                  <a:tcPr marL="76200" marR="76200" marT="50800" marB="50800">
                    <a:solidFill>
                      <a:srgbClr val="111D3C"/>
                    </a:solidFill>
                  </a:tcPr>
                </a:tc>
              </a:tr>
            </a:tbl>
          </a:graphicData>
        </a:graphic>
      </p:graphicFrame>
      <p:sp>
        <p:nvSpPr>
          <p:cNvPr id="8" name="Rounded Rectangle 7"/>
          <p:cNvSpPr/>
          <p:nvPr/>
        </p:nvSpPr>
        <p:spPr>
          <a:xfrm>
            <a:off x="457200" y="5303520"/>
            <a:ext cx="11277295" cy="960120"/>
          </a:xfrm>
          <a:prstGeom prst="roundRect">
            <a:avLst>
              <a:gd name="adj" fmla="val 3000"/>
            </a:avLst>
          </a:prstGeom>
          <a:solidFill>
            <a:srgbClr val="162248"/>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ctr">
              <a:lnSpc>
                <a:spcPct val="115000"/>
              </a:lnSpc>
            </a:pPr>
            <a:r>
              <a:rPr sz="1200">
                <a:solidFill>
                  <a:srgbClr val="E8F4F8"/>
                </a:solidFill>
              </a:rPr>
              <a:t>Key Takeaway: Conventional Phase-Amplitude Coupling (PAC) methods established the biological importance of cross-frequency interactions, but require subjective pre-filtering. HHSA generalizes cross-frequency analysis by computing continuous instantaneous frequencies for both the carrier and its amplitude envelope.</a:t>
            </a:r>
          </a:p>
        </p:txBody>
      </p:sp>
      <p:sp>
        <p:nvSpPr>
          <p:cNvPr id="9" name="TextBox 8"/>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0" name="TextBox 9"/>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4 of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4A261"/>
                </a:solidFill>
                <a:latin typeface="Consolas"/>
              </a:rPr>
              <a:t>O</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§2 The HHSA Framework • Algorithmic Design</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05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HHSA in One Picture: Decompose Twice</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Two nested layers of empirical sifting resolve carrier frequency and modulation frequency</a:t>
            </a:r>
          </a:p>
        </p:txBody>
      </p:sp>
      <p:sp>
        <p:nvSpPr>
          <p:cNvPr id="7" name="Rounded Rectangle 6"/>
          <p:cNvSpPr/>
          <p:nvPr/>
        </p:nvSpPr>
        <p:spPr>
          <a:xfrm>
            <a:off x="457200" y="1691640"/>
            <a:ext cx="5394960" cy="23774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01368"/>
            <a:ext cx="502920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1️⃣ Layer 1: Carrier Decomposition</a:t>
            </a:r>
          </a:p>
        </p:txBody>
      </p:sp>
      <p:sp>
        <p:nvSpPr>
          <p:cNvPr id="9" name="TextBox 8"/>
          <p:cNvSpPr txBox="1"/>
          <p:nvPr/>
        </p:nvSpPr>
        <p:spPr>
          <a:xfrm>
            <a:off x="640080" y="2130552"/>
            <a:ext cx="5029200" cy="59436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Decompose raw signal x(t) via noise-assisted EEMD or CEEMDAN into Intrinsic Mode Functions (IMFs):</a:t>
            </a:r>
          </a:p>
        </p:txBody>
      </p:sp>
      <p:sp>
        <p:nvSpPr>
          <p:cNvPr id="10" name="Rounded Rectangle 9"/>
          <p:cNvSpPr/>
          <p:nvPr/>
        </p:nvSpPr>
        <p:spPr>
          <a:xfrm>
            <a:off x="640080" y="2743200"/>
            <a:ext cx="5029200" cy="502920"/>
          </a:xfrm>
          <a:prstGeom prst="roundRect">
            <a:avLst>
              <a:gd name="adj" fmla="val 2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x(t) = sum_{i=1..M} c_i(t) + r(t)</a:t>
            </a:r>
          </a:p>
        </p:txBody>
      </p:sp>
      <p:sp>
        <p:nvSpPr>
          <p:cNvPr id="11" name="TextBox 10"/>
          <p:cNvSpPr txBox="1"/>
          <p:nvPr/>
        </p:nvSpPr>
        <p:spPr>
          <a:xfrm>
            <a:off x="640080" y="3319272"/>
            <a:ext cx="5029200" cy="685800"/>
          </a:xfrm>
          <a:prstGeom prst="rect">
            <a:avLst/>
          </a:prstGeom>
          <a:noFill/>
        </p:spPr>
        <p:txBody>
          <a:bodyPr wrap="square" anchor="t" lIns="50800" rIns="50800" tIns="25400" bIns="25400">
            <a:normAutofit/>
          </a:bodyPr>
          <a:lstStyle/>
          <a:p>
            <a:pPr algn="l">
              <a:lnSpc>
                <a:spcPct val="115000"/>
              </a:lnSpc>
              <a:spcAft>
                <a:spcPts val="400"/>
              </a:spcAft>
            </a:pPr>
            <a:r>
              <a:rPr sz="1100">
                <a:solidFill>
                  <a:srgbClr val="4DD9CF"/>
                </a:solidFill>
                <a:latin typeface="Inter"/>
              </a:rPr>
              <a:t>• </a:t>
            </a:r>
            <a:r>
              <a:rPr sz="1100">
                <a:solidFill>
                  <a:srgbClr val="8BA8C4"/>
                </a:solidFill>
                <a:latin typeface="Inter"/>
              </a:rPr>
              <a:t>Apply Hilbert Transform to each IMF c_i(t).</a:t>
            </a:r>
          </a:p>
          <a:p>
            <a:pPr algn="l">
              <a:lnSpc>
                <a:spcPct val="115000"/>
              </a:lnSpc>
              <a:spcAft>
                <a:spcPts val="400"/>
              </a:spcAft>
            </a:pPr>
            <a:r>
              <a:rPr sz="1100">
                <a:solidFill>
                  <a:srgbClr val="4DD9CF"/>
                </a:solidFill>
                <a:latin typeface="Inter"/>
              </a:rPr>
              <a:t>• </a:t>
            </a:r>
            <a:r>
              <a:rPr sz="1100">
                <a:solidFill>
                  <a:srgbClr val="8BA8C4"/>
                </a:solidFill>
                <a:latin typeface="Inter"/>
              </a:rPr>
              <a:t>Extract Instantaneous Amplitude a_i(t) and Carrier Frequency f_{c,i}(t).</a:t>
            </a:r>
          </a:p>
        </p:txBody>
      </p:sp>
      <p:sp>
        <p:nvSpPr>
          <p:cNvPr id="12" name="Rounded Rectangle 11"/>
          <p:cNvSpPr/>
          <p:nvPr/>
        </p:nvSpPr>
        <p:spPr>
          <a:xfrm>
            <a:off x="457200" y="4206240"/>
            <a:ext cx="5394960" cy="20574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315968"/>
            <a:ext cx="502920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2️⃣ Layer 2: Modulation Decomposition</a:t>
            </a:r>
          </a:p>
        </p:txBody>
      </p:sp>
      <p:sp>
        <p:nvSpPr>
          <p:cNvPr id="14" name="TextBox 13"/>
          <p:cNvSpPr txBox="1"/>
          <p:nvPr/>
        </p:nvSpPr>
        <p:spPr>
          <a:xfrm>
            <a:off x="640080" y="4645152"/>
            <a:ext cx="5029200" cy="59436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Treat each amplitude envelope a_i(t) as an independent physical signal and sift again via EMD:</a:t>
            </a:r>
          </a:p>
        </p:txBody>
      </p:sp>
      <p:sp>
        <p:nvSpPr>
          <p:cNvPr id="15" name="TextBox 14"/>
          <p:cNvSpPr txBox="1"/>
          <p:nvPr/>
        </p:nvSpPr>
        <p:spPr>
          <a:xfrm>
            <a:off x="640080" y="5257800"/>
            <a:ext cx="5029200" cy="91440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Apply Hilbert Transform to d_{ij}(t).</a:t>
            </a:r>
          </a:p>
          <a:p>
            <a:pPr algn="l">
              <a:lnSpc>
                <a:spcPct val="115000"/>
              </a:lnSpc>
              <a:spcAft>
                <a:spcPts val="600"/>
              </a:spcAft>
            </a:pPr>
            <a:r>
              <a:rPr sz="1150">
                <a:solidFill>
                  <a:srgbClr val="4DD9CF"/>
                </a:solidFill>
                <a:latin typeface="Inter"/>
              </a:rPr>
              <a:t>• </a:t>
            </a:r>
            <a:r>
              <a:rPr sz="1150">
                <a:solidFill>
                  <a:srgbClr val="8BA8C4"/>
                </a:solidFill>
                <a:latin typeface="Inter"/>
              </a:rPr>
              <a:t>Extract Instantaneous Modulation Frequency f_{AM,ij}(t) and energy A_{ij}(t).</a:t>
            </a:r>
          </a:p>
        </p:txBody>
      </p:sp>
      <p:sp>
        <p:nvSpPr>
          <p:cNvPr id="16" name="Rounded Rectangle 15"/>
          <p:cNvSpPr/>
          <p:nvPr/>
        </p:nvSpPr>
        <p:spPr>
          <a:xfrm>
            <a:off x="6108192" y="1691640"/>
            <a:ext cx="5623560" cy="45720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2_hhsa_pipeline.png"/>
          <p:cNvPicPr>
            <a:picLocks noChangeAspect="1"/>
          </p:cNvPicPr>
          <p:nvPr/>
        </p:nvPicPr>
        <p:blipFill>
          <a:blip r:embed="rId2"/>
          <a:stretch>
            <a:fillRect/>
          </a:stretch>
        </p:blipFill>
        <p:spPr>
          <a:xfrm>
            <a:off x="6291072" y="2724673"/>
            <a:ext cx="5257800" cy="2231612"/>
          </a:xfrm>
          <a:prstGeom prst="rect">
            <a:avLst/>
          </a:prstGeom>
        </p:spPr>
      </p:pic>
      <p:sp>
        <p:nvSpPr>
          <p:cNvPr id="18" name="TextBox 17"/>
          <p:cNvSpPr txBox="1"/>
          <p:nvPr/>
        </p:nvSpPr>
        <p:spPr>
          <a:xfrm>
            <a:off x="6291072" y="5007086"/>
            <a:ext cx="5257800" cy="274320"/>
          </a:xfrm>
          <a:prstGeom prst="rect">
            <a:avLst/>
          </a:prstGeom>
          <a:noFill/>
        </p:spPr>
        <p:txBody>
          <a:bodyPr wrap="square" anchor="t" lIns="50800" rIns="50800" tIns="25400" bIns="25400">
            <a:spAutoFit/>
          </a:bodyPr>
          <a:lstStyle/>
          <a:p>
            <a:pPr algn="ctr">
              <a:lnSpc>
                <a:spcPct val="115000"/>
              </a:lnSpc>
            </a:pPr>
            <a:r>
              <a:rPr sz="950" b="0" i="0">
                <a:solidFill>
                  <a:srgbClr val="4A6580"/>
                </a:solidFill>
                <a:latin typeface="Consolas"/>
              </a:rPr>
              <a:t>Figure F2: Two-layer sifting pipeline mapping raw signal to the 3-D Holo-Hilbert continuum.</a:t>
            </a:r>
          </a:p>
        </p:txBody>
      </p:sp>
      <p:sp>
        <p:nvSpPr>
          <p:cNvPr id="19" name="TextBox 18"/>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20" name="TextBox 19"/>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5 of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4A261"/>
                </a:solidFill>
                <a:latin typeface="Consolas"/>
              </a:rPr>
              <a:t>O</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§2 3-D Tensor Geometry • Spectral Formulation</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06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The Cube H(t, f_c, f_AM) &amp; Its Three Projections</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Orthogonal marginals recover Hilbert-Huang, cross-frequency, and modulation history maps</a:t>
            </a:r>
          </a:p>
        </p:txBody>
      </p:sp>
      <p:sp>
        <p:nvSpPr>
          <p:cNvPr id="7" name="Rounded Rectangle 6"/>
          <p:cNvSpPr/>
          <p:nvPr/>
        </p:nvSpPr>
        <p:spPr>
          <a:xfrm>
            <a:off x="457200"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828800"/>
            <a:ext cx="1280160" cy="274320"/>
          </a:xfrm>
          <a:prstGeom prst="roundRect">
            <a:avLst>
              <a:gd name="adj" fmla="val 30000"/>
            </a:avLst>
          </a:prstGeom>
          <a:solidFill>
            <a:srgbClr val="162248"/>
          </a:solidFill>
          <a:ln w="9525">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50" b="1">
                <a:solidFill>
                  <a:srgbClr val="4DD9CF"/>
                </a:solidFill>
                <a:latin typeface="Consolas"/>
              </a:rPr>
              <a:t>Projection 1</a:t>
            </a:r>
          </a:p>
        </p:txBody>
      </p:sp>
      <p:sp>
        <p:nvSpPr>
          <p:cNvPr id="9" name="TextBox 8"/>
          <p:cNvSpPr txBox="1"/>
          <p:nvPr/>
        </p:nvSpPr>
        <p:spPr>
          <a:xfrm>
            <a:off x="594360" y="2167128"/>
            <a:ext cx="3337560" cy="411480"/>
          </a:xfrm>
          <a:prstGeom prst="rect">
            <a:avLst/>
          </a:prstGeom>
          <a:noFill/>
        </p:spPr>
        <p:txBody>
          <a:bodyPr wrap="square" anchor="t" lIns="50800" rIns="50800" tIns="25400" bIns="25400">
            <a:spAutoFit/>
          </a:bodyPr>
          <a:lstStyle/>
          <a:p>
            <a:pPr algn="l">
              <a:lnSpc>
                <a:spcPct val="115000"/>
              </a:lnSpc>
            </a:pPr>
            <a:r>
              <a:rPr sz="1350" b="1" i="0">
                <a:solidFill>
                  <a:srgbClr val="E8F4F8"/>
                </a:solidFill>
                <a:latin typeface="Inter"/>
              </a:rPr>
              <a:t>S(t, f_c) — Time-Carrier</a:t>
            </a:r>
          </a:p>
        </p:txBody>
      </p:sp>
      <p:sp>
        <p:nvSpPr>
          <p:cNvPr id="10" name="Rounded Rectangle 9"/>
          <p:cNvSpPr/>
          <p:nvPr/>
        </p:nvSpPr>
        <p:spPr>
          <a:xfrm>
            <a:off x="594360" y="2606040"/>
            <a:ext cx="3337560" cy="502920"/>
          </a:xfrm>
          <a:prstGeom prst="roundRect">
            <a:avLst>
              <a:gd name="adj" fmla="val 2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S(t, f_c) = int H(t, f_c, f_AM) df_AM</a:t>
            </a:r>
          </a:p>
        </p:txBody>
      </p:sp>
      <p:sp>
        <p:nvSpPr>
          <p:cNvPr id="11" name="TextBox 10"/>
          <p:cNvSpPr txBox="1"/>
          <p:nvPr/>
        </p:nvSpPr>
        <p:spPr>
          <a:xfrm>
            <a:off x="594360" y="3200400"/>
            <a:ext cx="3337560" cy="502920"/>
          </a:xfrm>
          <a:prstGeom prst="rect">
            <a:avLst/>
          </a:prstGeom>
          <a:noFill/>
        </p:spPr>
        <p:txBody>
          <a:bodyPr wrap="square" anchor="t" lIns="50800" rIns="50800" tIns="25400" bIns="25400">
            <a:spAutoFit/>
          </a:bodyPr>
          <a:lstStyle/>
          <a:p>
            <a:pPr algn="l">
              <a:lnSpc>
                <a:spcPct val="115000"/>
              </a:lnSpc>
            </a:pPr>
            <a:r>
              <a:rPr sz="1200" b="1" i="0">
                <a:solidFill>
                  <a:srgbClr val="E8F4F8"/>
                </a:solidFill>
                <a:latin typeface="Inter"/>
              </a:rPr>
              <a:t>Hilbert-Huang Spectrum (HHT):</a:t>
            </a:r>
          </a:p>
        </p:txBody>
      </p:sp>
      <p:sp>
        <p:nvSpPr>
          <p:cNvPr id="12" name="TextBox 11"/>
          <p:cNvSpPr txBox="1"/>
          <p:nvPr/>
        </p:nvSpPr>
        <p:spPr>
          <a:xfrm>
            <a:off x="594360" y="3703320"/>
            <a:ext cx="3337560" cy="137160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Integrates energy across all modulation frequencies.</a:t>
            </a:r>
          </a:p>
          <a:p>
            <a:pPr algn="l">
              <a:lnSpc>
                <a:spcPct val="115000"/>
              </a:lnSpc>
              <a:spcAft>
                <a:spcPts val="600"/>
              </a:spcAft>
            </a:pPr>
            <a:r>
              <a:rPr sz="1150">
                <a:solidFill>
                  <a:srgbClr val="4DD9CF"/>
                </a:solidFill>
                <a:latin typeface="Inter"/>
              </a:rPr>
              <a:t>• </a:t>
            </a:r>
            <a:r>
              <a:rPr sz="1150">
                <a:solidFill>
                  <a:srgbClr val="8BA8C4"/>
                </a:solidFill>
                <a:latin typeface="Inter"/>
              </a:rPr>
              <a:t>Classic time-frequency representation tracking carrier power evolution.</a:t>
            </a:r>
          </a:p>
        </p:txBody>
      </p:sp>
      <p:sp>
        <p:nvSpPr>
          <p:cNvPr id="13" name="Rounded Rectangle 12"/>
          <p:cNvSpPr/>
          <p:nvPr/>
        </p:nvSpPr>
        <p:spPr>
          <a:xfrm>
            <a:off x="4288536"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1828800"/>
            <a:ext cx="1280160" cy="274320"/>
          </a:xfrm>
          <a:prstGeom prst="roundRect">
            <a:avLst>
              <a:gd name="adj" fmla="val 30000"/>
            </a:avLst>
          </a:prstGeom>
          <a:solidFill>
            <a:srgbClr val="162248"/>
          </a:solidFill>
          <a:ln w="952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50" b="1">
                <a:solidFill>
                  <a:srgbClr val="F4A261"/>
                </a:solidFill>
                <a:latin typeface="Consolas"/>
              </a:rPr>
              <a:t>Projection 2</a:t>
            </a:r>
          </a:p>
        </p:txBody>
      </p:sp>
      <p:sp>
        <p:nvSpPr>
          <p:cNvPr id="15" name="TextBox 14"/>
          <p:cNvSpPr txBox="1"/>
          <p:nvPr/>
        </p:nvSpPr>
        <p:spPr>
          <a:xfrm>
            <a:off x="4425696" y="2167128"/>
            <a:ext cx="3337560" cy="411480"/>
          </a:xfrm>
          <a:prstGeom prst="rect">
            <a:avLst/>
          </a:prstGeom>
          <a:noFill/>
        </p:spPr>
        <p:txBody>
          <a:bodyPr wrap="square" anchor="t" lIns="50800" rIns="50800" tIns="25400" bIns="25400">
            <a:spAutoFit/>
          </a:bodyPr>
          <a:lstStyle/>
          <a:p>
            <a:pPr algn="l">
              <a:lnSpc>
                <a:spcPct val="115000"/>
              </a:lnSpc>
            </a:pPr>
            <a:r>
              <a:rPr sz="1350" b="1" i="0">
                <a:solidFill>
                  <a:srgbClr val="E8F4F8"/>
                </a:solidFill>
                <a:latin typeface="Inter"/>
              </a:rPr>
              <a:t>C(f_c, f_AM) — Holo-Spectrum</a:t>
            </a:r>
          </a:p>
        </p:txBody>
      </p:sp>
      <p:sp>
        <p:nvSpPr>
          <p:cNvPr id="16" name="Rounded Rectangle 15"/>
          <p:cNvSpPr/>
          <p:nvPr/>
        </p:nvSpPr>
        <p:spPr>
          <a:xfrm>
            <a:off x="4425696" y="2606040"/>
            <a:ext cx="3337560" cy="502920"/>
          </a:xfrm>
          <a:prstGeom prst="roundRect">
            <a:avLst>
              <a:gd name="adj" fmla="val 2000"/>
            </a:avLst>
          </a:prstGeom>
          <a:solidFill>
            <a:srgbClr val="162248"/>
          </a:solidFill>
          <a:ln w="1524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C(f_c, f_AM) = int H(t, f_c, f_AM) dt</a:t>
            </a:r>
          </a:p>
        </p:txBody>
      </p:sp>
      <p:sp>
        <p:nvSpPr>
          <p:cNvPr id="17" name="TextBox 16"/>
          <p:cNvSpPr txBox="1"/>
          <p:nvPr/>
        </p:nvSpPr>
        <p:spPr>
          <a:xfrm>
            <a:off x="4425696" y="3200400"/>
            <a:ext cx="3337560" cy="502920"/>
          </a:xfrm>
          <a:prstGeom prst="rect">
            <a:avLst/>
          </a:prstGeom>
          <a:noFill/>
        </p:spPr>
        <p:txBody>
          <a:bodyPr wrap="square" anchor="t" lIns="50800" rIns="50800" tIns="25400" bIns="25400">
            <a:spAutoFit/>
          </a:bodyPr>
          <a:lstStyle/>
          <a:p>
            <a:pPr algn="l">
              <a:lnSpc>
                <a:spcPct val="115000"/>
              </a:lnSpc>
            </a:pPr>
            <a:r>
              <a:rPr sz="1200" b="1" i="0">
                <a:solidFill>
                  <a:srgbClr val="E8F4F8"/>
                </a:solidFill>
                <a:latin typeface="Inter"/>
              </a:rPr>
              <a:t>Carrier vs. Modulation Map:</a:t>
            </a:r>
          </a:p>
        </p:txBody>
      </p:sp>
      <p:sp>
        <p:nvSpPr>
          <p:cNvPr id="18" name="TextBox 17"/>
          <p:cNvSpPr txBox="1"/>
          <p:nvPr/>
        </p:nvSpPr>
        <p:spPr>
          <a:xfrm>
            <a:off x="4425696" y="3703320"/>
            <a:ext cx="3337560" cy="137160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Integrates energy over the entire recording duration.</a:t>
            </a:r>
          </a:p>
          <a:p>
            <a:pPr algn="l">
              <a:lnSpc>
                <a:spcPct val="115000"/>
              </a:lnSpc>
              <a:spcAft>
                <a:spcPts val="600"/>
              </a:spcAft>
            </a:pPr>
            <a:r>
              <a:rPr sz="1150">
                <a:solidFill>
                  <a:srgbClr val="4DD9CF"/>
                </a:solidFill>
                <a:latin typeface="Inter"/>
              </a:rPr>
              <a:t>• </a:t>
            </a:r>
            <a:r>
              <a:rPr sz="1150">
                <a:solidFill>
                  <a:srgbClr val="8BA8C4"/>
                </a:solidFill>
                <a:latin typeface="Inter"/>
              </a:rPr>
              <a:t>Maps cross-frequency coupling across all physiological scales.</a:t>
            </a:r>
          </a:p>
        </p:txBody>
      </p:sp>
      <p:sp>
        <p:nvSpPr>
          <p:cNvPr id="19" name="Rounded Rectangle 18"/>
          <p:cNvSpPr/>
          <p:nvPr/>
        </p:nvSpPr>
        <p:spPr>
          <a:xfrm>
            <a:off x="8119872"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57032" y="1828800"/>
            <a:ext cx="1280160" cy="274320"/>
          </a:xfrm>
          <a:prstGeom prst="roundRect">
            <a:avLst>
              <a:gd name="adj" fmla="val 30000"/>
            </a:avLst>
          </a:prstGeom>
          <a:solidFill>
            <a:srgbClr val="16224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50" b="1">
                <a:solidFill>
                  <a:srgbClr val="A78BFA"/>
                </a:solidFill>
                <a:latin typeface="Consolas"/>
              </a:rPr>
              <a:t>Projection 3</a:t>
            </a:r>
          </a:p>
        </p:txBody>
      </p:sp>
      <p:sp>
        <p:nvSpPr>
          <p:cNvPr id="21" name="TextBox 20"/>
          <p:cNvSpPr txBox="1"/>
          <p:nvPr/>
        </p:nvSpPr>
        <p:spPr>
          <a:xfrm>
            <a:off x="8257032" y="2167128"/>
            <a:ext cx="3337560" cy="411480"/>
          </a:xfrm>
          <a:prstGeom prst="rect">
            <a:avLst/>
          </a:prstGeom>
          <a:noFill/>
        </p:spPr>
        <p:txBody>
          <a:bodyPr wrap="square" anchor="t" lIns="50800" rIns="50800" tIns="25400" bIns="25400">
            <a:spAutoFit/>
          </a:bodyPr>
          <a:lstStyle/>
          <a:p>
            <a:pPr algn="l">
              <a:lnSpc>
                <a:spcPct val="115000"/>
              </a:lnSpc>
            </a:pPr>
            <a:r>
              <a:rPr sz="1350" b="1" i="0">
                <a:solidFill>
                  <a:srgbClr val="E8F4F8"/>
                </a:solidFill>
                <a:latin typeface="Inter"/>
              </a:rPr>
              <a:t>M(t, f_AM) — Time-Modulation</a:t>
            </a:r>
          </a:p>
        </p:txBody>
      </p:sp>
      <p:sp>
        <p:nvSpPr>
          <p:cNvPr id="22" name="Rounded Rectangle 21"/>
          <p:cNvSpPr/>
          <p:nvPr/>
        </p:nvSpPr>
        <p:spPr>
          <a:xfrm>
            <a:off x="8257032" y="2606040"/>
            <a:ext cx="3337560" cy="502920"/>
          </a:xfrm>
          <a:prstGeom prst="roundRect">
            <a:avLst>
              <a:gd name="adj" fmla="val 2000"/>
            </a:avLst>
          </a:prstGeom>
          <a:solidFill>
            <a:srgbClr val="162248"/>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M(t, f_AM) = int H(t, f_c, f_AM) df_c</a:t>
            </a:r>
          </a:p>
        </p:txBody>
      </p:sp>
      <p:sp>
        <p:nvSpPr>
          <p:cNvPr id="23" name="TextBox 22"/>
          <p:cNvSpPr txBox="1"/>
          <p:nvPr/>
        </p:nvSpPr>
        <p:spPr>
          <a:xfrm>
            <a:off x="8257032" y="3200400"/>
            <a:ext cx="3337560" cy="502920"/>
          </a:xfrm>
          <a:prstGeom prst="rect">
            <a:avLst/>
          </a:prstGeom>
          <a:noFill/>
        </p:spPr>
        <p:txBody>
          <a:bodyPr wrap="square" anchor="t" lIns="50800" rIns="50800" tIns="25400" bIns="25400">
            <a:spAutoFit/>
          </a:bodyPr>
          <a:lstStyle/>
          <a:p>
            <a:pPr algn="l">
              <a:lnSpc>
                <a:spcPct val="115000"/>
              </a:lnSpc>
            </a:pPr>
            <a:r>
              <a:rPr sz="1200" b="1" i="0">
                <a:solidFill>
                  <a:srgbClr val="E8F4F8"/>
                </a:solidFill>
                <a:latin typeface="Inter"/>
              </a:rPr>
              <a:t>Modulation Time History:</a:t>
            </a:r>
          </a:p>
        </p:txBody>
      </p:sp>
      <p:sp>
        <p:nvSpPr>
          <p:cNvPr id="24" name="TextBox 23"/>
          <p:cNvSpPr txBox="1"/>
          <p:nvPr/>
        </p:nvSpPr>
        <p:spPr>
          <a:xfrm>
            <a:off x="8257032" y="3703320"/>
            <a:ext cx="3337560" cy="137160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Integrates energy across all carrier frequencies.</a:t>
            </a:r>
          </a:p>
          <a:p>
            <a:pPr algn="l">
              <a:lnSpc>
                <a:spcPct val="115000"/>
              </a:lnSpc>
              <a:spcAft>
                <a:spcPts val="600"/>
              </a:spcAft>
            </a:pPr>
            <a:r>
              <a:rPr sz="1150">
                <a:solidFill>
                  <a:srgbClr val="4DD9CF"/>
                </a:solidFill>
                <a:latin typeface="Inter"/>
              </a:rPr>
              <a:t>• </a:t>
            </a:r>
            <a:r>
              <a:rPr sz="1150">
                <a:solidFill>
                  <a:srgbClr val="8BA8C4"/>
                </a:solidFill>
                <a:latin typeface="Inter"/>
              </a:rPr>
              <a:t>Reveals when physiological amplitude modulation bursts wax and wane.</a:t>
            </a:r>
          </a:p>
        </p:txBody>
      </p:sp>
      <p:sp>
        <p:nvSpPr>
          <p:cNvPr id="25" name="Rounded Rectangle 24"/>
          <p:cNvSpPr/>
          <p:nvPr/>
        </p:nvSpPr>
        <p:spPr>
          <a:xfrm>
            <a:off x="457200" y="5440680"/>
            <a:ext cx="11277295" cy="822960"/>
          </a:xfrm>
          <a:prstGeom prst="roundRect">
            <a:avLst>
              <a:gd name="adj" fmla="val 3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532120"/>
            <a:ext cx="10911535" cy="64008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Mathematical Consistency: Discrete 3-D tensor marginal sums reproduce orthogonal projections with relative error &lt; 10^-6 (verified in cube_validation.json).</a:t>
            </a:r>
          </a:p>
        </p:txBody>
      </p:sp>
      <p:sp>
        <p:nvSpPr>
          <p:cNvPr id="27" name="TextBox 26"/>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28" name="TextBox 27"/>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6 of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4A261"/>
                </a:solidFill>
                <a:latin typeface="Consolas"/>
              </a:rPr>
              <a:t>O</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§2, §6 Physical Validity • Rigorous Bounds</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07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Admissibility (f_AM &lt; f_c) &amp; Duration Bounds (f &gt;= 3/T)</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Distinguishing true physiological amplitude modulation from mathematical artifacts</a:t>
            </a:r>
          </a:p>
        </p:txBody>
      </p:sp>
      <p:sp>
        <p:nvSpPr>
          <p:cNvPr id="7" name="Rounded Rectangle 6"/>
          <p:cNvSpPr/>
          <p:nvPr/>
        </p:nvSpPr>
        <p:spPr>
          <a:xfrm>
            <a:off x="457200" y="1691640"/>
            <a:ext cx="5486400" cy="44805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74520"/>
            <a:ext cx="5029200" cy="365760"/>
          </a:xfrm>
          <a:prstGeom prst="rect">
            <a:avLst/>
          </a:prstGeom>
          <a:noFill/>
        </p:spPr>
        <p:txBody>
          <a:bodyPr wrap="square" anchor="t" lIns="50800" rIns="50800" tIns="25400" bIns="25400">
            <a:spAutoFit/>
          </a:bodyPr>
          <a:lstStyle/>
          <a:p>
            <a:pPr algn="l">
              <a:lnSpc>
                <a:spcPct val="115000"/>
              </a:lnSpc>
            </a:pPr>
            <a:r>
              <a:rPr sz="1600" b="1" i="0">
                <a:solidFill>
                  <a:srgbClr val="F4A261"/>
                </a:solidFill>
                <a:latin typeface="Inter"/>
              </a:rPr>
              <a:t>⚖️ 1. The Admissibility Condition</a:t>
            </a:r>
          </a:p>
        </p:txBody>
      </p:sp>
      <p:sp>
        <p:nvSpPr>
          <p:cNvPr id="9" name="Rounded Rectangle 8"/>
          <p:cNvSpPr/>
          <p:nvPr/>
        </p:nvSpPr>
        <p:spPr>
          <a:xfrm>
            <a:off x="685800" y="2313432"/>
            <a:ext cx="5029200" cy="548640"/>
          </a:xfrm>
          <a:prstGeom prst="roundRect">
            <a:avLst>
              <a:gd name="adj" fmla="val 2000"/>
            </a:avLst>
          </a:prstGeom>
          <a:solidFill>
            <a:srgbClr val="162248"/>
          </a:solidFill>
          <a:ln w="1524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f_AM &lt; f_c   (Strict Physical Inequality)</a:t>
            </a:r>
          </a:p>
        </p:txBody>
      </p:sp>
      <p:sp>
        <p:nvSpPr>
          <p:cNvPr id="10" name="TextBox 9"/>
          <p:cNvSpPr txBox="1"/>
          <p:nvPr/>
        </p:nvSpPr>
        <p:spPr>
          <a:xfrm>
            <a:off x="685800" y="2971800"/>
            <a:ext cx="5029200" cy="731520"/>
          </a:xfrm>
          <a:prstGeom prst="rect">
            <a:avLst/>
          </a:prstGeom>
          <a:noFill/>
        </p:spPr>
        <p:txBody>
          <a:bodyPr wrap="square" anchor="t" lIns="50800" rIns="50800" tIns="25400" bIns="25400">
            <a:spAutoFit/>
          </a:bodyPr>
          <a:lstStyle/>
          <a:p>
            <a:pPr algn="l">
              <a:lnSpc>
                <a:spcPct val="115000"/>
              </a:lnSpc>
            </a:pPr>
            <a:r>
              <a:rPr sz="1250" b="0" i="0">
                <a:solidFill>
                  <a:srgbClr val="E8F4F8"/>
                </a:solidFill>
                <a:latin typeface="Inter"/>
              </a:rPr>
              <a:t>Physical Principle: An envelope cannot oscillate faster than the carrier wave it modulates (Bedrosian Theorem on product spectra).</a:t>
            </a:r>
          </a:p>
        </p:txBody>
      </p:sp>
      <p:sp>
        <p:nvSpPr>
          <p:cNvPr id="11" name="TextBox 10"/>
          <p:cNvSpPr txBox="1"/>
          <p:nvPr/>
        </p:nvSpPr>
        <p:spPr>
          <a:xfrm>
            <a:off x="685800" y="3749040"/>
            <a:ext cx="5029200" cy="2286000"/>
          </a:xfrm>
          <a:prstGeom prst="rect">
            <a:avLst/>
          </a:prstGeom>
          <a:noFill/>
        </p:spPr>
        <p:txBody>
          <a:bodyPr wrap="square" anchor="t" lIns="50800" rIns="50800" tIns="25400" bIns="25400">
            <a:normAutofit/>
          </a:bodyPr>
          <a:lstStyle/>
          <a:p>
            <a:pPr algn="l">
              <a:lnSpc>
                <a:spcPct val="115000"/>
              </a:lnSpc>
              <a:spcAft>
                <a:spcPts val="800"/>
              </a:spcAft>
            </a:pPr>
            <a:r>
              <a:rPr sz="1200">
                <a:solidFill>
                  <a:srgbClr val="4DD9CF"/>
                </a:solidFill>
                <a:latin typeface="Inter"/>
              </a:rPr>
              <a:t>• </a:t>
            </a:r>
            <a:r>
              <a:rPr sz="1200">
                <a:solidFill>
                  <a:srgbClr val="8BA8C4"/>
                </a:solidFill>
                <a:latin typeface="Inter"/>
              </a:rPr>
              <a:t>Coordinates where f_AM &gt;= f_c represent cubic spline overshoot, mode mixing, or noise leakage.</a:t>
            </a:r>
          </a:p>
          <a:p>
            <a:pPr algn="l">
              <a:lnSpc>
                <a:spcPct val="115000"/>
              </a:lnSpc>
              <a:spcAft>
                <a:spcPts val="800"/>
              </a:spcAft>
            </a:pPr>
            <a:r>
              <a:rPr sz="1200">
                <a:solidFill>
                  <a:srgbClr val="4DD9CF"/>
                </a:solidFill>
                <a:latin typeface="Inter"/>
              </a:rPr>
              <a:t>• </a:t>
            </a:r>
            <a:r>
              <a:rPr sz="1200">
                <a:solidFill>
                  <a:srgbClr val="8BA8C4"/>
                </a:solidFill>
                <a:latin typeface="Inter"/>
              </a:rPr>
              <a:t>Our 3-D explorer and pipeline construct an explicit admissibility mask to exclude unphysical energy.</a:t>
            </a:r>
          </a:p>
          <a:p>
            <a:pPr algn="l">
              <a:lnSpc>
                <a:spcPct val="115000"/>
              </a:lnSpc>
              <a:spcAft>
                <a:spcPts val="800"/>
              </a:spcAft>
            </a:pPr>
            <a:r>
              <a:rPr sz="1200">
                <a:solidFill>
                  <a:srgbClr val="4DD9CF"/>
                </a:solidFill>
                <a:latin typeface="Inter"/>
              </a:rPr>
              <a:t>• </a:t>
            </a:r>
            <a:r>
              <a:rPr sz="1200">
                <a:solidFill>
                  <a:srgbClr val="8BA8C4"/>
                </a:solidFill>
                <a:latin typeface="Inter"/>
              </a:rPr>
              <a:t>Essential for avoiding false-positive cross-frequency coupling reports.</a:t>
            </a:r>
          </a:p>
        </p:txBody>
      </p:sp>
      <p:sp>
        <p:nvSpPr>
          <p:cNvPr id="12" name="Rounded Rectangle 11"/>
          <p:cNvSpPr/>
          <p:nvPr/>
        </p:nvSpPr>
        <p:spPr>
          <a:xfrm>
            <a:off x="6248095" y="1691640"/>
            <a:ext cx="5486400" cy="44805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6695" y="1874520"/>
            <a:ext cx="5029200" cy="365760"/>
          </a:xfrm>
          <a:prstGeom prst="rect">
            <a:avLst/>
          </a:prstGeom>
          <a:noFill/>
        </p:spPr>
        <p:txBody>
          <a:bodyPr wrap="square" anchor="t" lIns="50800" rIns="50800" tIns="25400" bIns="25400">
            <a:spAutoFit/>
          </a:bodyPr>
          <a:lstStyle/>
          <a:p>
            <a:pPr algn="l">
              <a:lnSpc>
                <a:spcPct val="115000"/>
              </a:lnSpc>
            </a:pPr>
            <a:r>
              <a:rPr sz="1600" b="1" i="0">
                <a:solidFill>
                  <a:srgbClr val="A78BFA"/>
                </a:solidFill>
                <a:latin typeface="Inter"/>
              </a:rPr>
              <a:t>⏱️ 2. The 3-Cycle Duration Bound</a:t>
            </a:r>
          </a:p>
        </p:txBody>
      </p:sp>
      <p:sp>
        <p:nvSpPr>
          <p:cNvPr id="14" name="Rounded Rectangle 13"/>
          <p:cNvSpPr/>
          <p:nvPr/>
        </p:nvSpPr>
        <p:spPr>
          <a:xfrm>
            <a:off x="6476695" y="2313432"/>
            <a:ext cx="5029200" cy="548640"/>
          </a:xfrm>
          <a:prstGeom prst="roundRect">
            <a:avLst>
              <a:gd name="adj" fmla="val 2000"/>
            </a:avLst>
          </a:prstGeom>
          <a:solidFill>
            <a:srgbClr val="162248"/>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f_resolvable &gt;= 3 / T   (T = Recording Duration)</a:t>
            </a:r>
          </a:p>
        </p:txBody>
      </p:sp>
      <p:sp>
        <p:nvSpPr>
          <p:cNvPr id="15" name="TextBox 14"/>
          <p:cNvSpPr txBox="1"/>
          <p:nvPr/>
        </p:nvSpPr>
        <p:spPr>
          <a:xfrm>
            <a:off x="6476695" y="2971800"/>
            <a:ext cx="5029200" cy="731520"/>
          </a:xfrm>
          <a:prstGeom prst="rect">
            <a:avLst/>
          </a:prstGeom>
          <a:noFill/>
        </p:spPr>
        <p:txBody>
          <a:bodyPr wrap="square" anchor="t" lIns="50800" rIns="50800" tIns="25400" bIns="25400">
            <a:spAutoFit/>
          </a:bodyPr>
          <a:lstStyle/>
          <a:p>
            <a:pPr algn="l">
              <a:lnSpc>
                <a:spcPct val="115000"/>
              </a:lnSpc>
            </a:pPr>
            <a:r>
              <a:rPr sz="1250" b="0" i="0">
                <a:solidFill>
                  <a:srgbClr val="E8F4F8"/>
                </a:solidFill>
                <a:latin typeface="Inter"/>
              </a:rPr>
              <a:t>Physical Principle: Adaptive sifting requires at least 3 local extrema (troughs and peaks) to interpolate upper and lower envelopes reliably.</a:t>
            </a:r>
          </a:p>
        </p:txBody>
      </p:sp>
      <p:sp>
        <p:nvSpPr>
          <p:cNvPr id="16" name="TextBox 15"/>
          <p:cNvSpPr txBox="1"/>
          <p:nvPr/>
        </p:nvSpPr>
        <p:spPr>
          <a:xfrm>
            <a:off x="6476695" y="3749040"/>
            <a:ext cx="5029200" cy="2286000"/>
          </a:xfrm>
          <a:prstGeom prst="rect">
            <a:avLst/>
          </a:prstGeom>
          <a:noFill/>
        </p:spPr>
        <p:txBody>
          <a:bodyPr wrap="square" anchor="t" lIns="50800" rIns="50800" tIns="25400" bIns="25400">
            <a:normAutofit/>
          </a:bodyPr>
          <a:lstStyle/>
          <a:p>
            <a:pPr algn="l">
              <a:lnSpc>
                <a:spcPct val="115000"/>
              </a:lnSpc>
              <a:spcAft>
                <a:spcPts val="800"/>
              </a:spcAft>
            </a:pPr>
            <a:r>
              <a:rPr sz="1200">
                <a:solidFill>
                  <a:srgbClr val="4DD9CF"/>
                </a:solidFill>
                <a:latin typeface="Inter"/>
              </a:rPr>
              <a:t>• </a:t>
            </a:r>
            <a:r>
              <a:rPr sz="1200" b="1">
                <a:solidFill>
                  <a:srgbClr val="E8F4F8"/>
                </a:solidFill>
                <a:latin typeface="Inter"/>
              </a:rPr>
              <a:t>13-day CGM (T = 312 h):</a:t>
            </a:r>
            <a:r>
              <a:rPr sz="1200">
                <a:solidFill>
                  <a:srgbClr val="8BA8C4"/>
                </a:solidFill>
                <a:latin typeface="Inter"/>
              </a:rPr>
              <a:t> f &gt;= 3/312 ≈ 0.0096 c/h. Circadian (0.042 c/h) is fully resolvable.</a:t>
            </a:r>
          </a:p>
          <a:p>
            <a:pPr algn="l">
              <a:lnSpc>
                <a:spcPct val="115000"/>
              </a:lnSpc>
              <a:spcAft>
                <a:spcPts val="800"/>
              </a:spcAft>
            </a:pPr>
            <a:r>
              <a:rPr sz="1200">
                <a:solidFill>
                  <a:srgbClr val="4DD9CF"/>
                </a:solidFill>
                <a:latin typeface="Inter"/>
              </a:rPr>
              <a:t>• </a:t>
            </a:r>
            <a:r>
              <a:rPr sz="1200" b="1">
                <a:solidFill>
                  <a:srgbClr val="E8F4F8"/>
                </a:solidFill>
                <a:latin typeface="Inter"/>
              </a:rPr>
              <a:t>7-min Wearable HRV (T = 420 s):</a:t>
            </a:r>
            <a:r>
              <a:rPr sz="1200">
                <a:solidFill>
                  <a:srgbClr val="8BA8C4"/>
                </a:solidFill>
                <a:latin typeface="Inter"/>
              </a:rPr>
              <a:t> f &gt;= 3/420 ≈ 0.0071 Hz. VLF (&lt; 0.007 Hz) is mathematically unresolvable and grey-hatched!</a:t>
            </a:r>
          </a:p>
          <a:p>
            <a:pPr algn="l">
              <a:lnSpc>
                <a:spcPct val="115000"/>
              </a:lnSpc>
              <a:spcAft>
                <a:spcPts val="800"/>
              </a:spcAft>
            </a:pPr>
            <a:r>
              <a:rPr sz="1200">
                <a:solidFill>
                  <a:srgbClr val="4DD9CF"/>
                </a:solidFill>
                <a:latin typeface="Inter"/>
              </a:rPr>
              <a:t>• </a:t>
            </a:r>
            <a:r>
              <a:rPr sz="1200">
                <a:solidFill>
                  <a:srgbClr val="8BA8C4"/>
                </a:solidFill>
                <a:latin typeface="Inter"/>
              </a:rPr>
              <a:t>Prevents over-interpreting short wearable snapshots as slow autonomic rhythms.</a:t>
            </a:r>
          </a:p>
        </p:txBody>
      </p:sp>
      <p:sp>
        <p:nvSpPr>
          <p:cNvPr id="17" name="TextBox 16"/>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8" name="TextBox 17"/>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7 of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I</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§5 Interactive Core • Live Benchmark</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08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Live 3-D Explorer: Synthetic Ground Truth</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Interactive WebGL inspection of the calibrated AM-FM test benchmark in real time</a:t>
            </a:r>
          </a:p>
        </p:txBody>
      </p:sp>
      <p:sp>
        <p:nvSpPr>
          <p:cNvPr id="7" name="Rounded Rectangle 6"/>
          <p:cNvSpPr/>
          <p:nvPr/>
        </p:nvSpPr>
        <p:spPr>
          <a:xfrm>
            <a:off x="457200" y="1691640"/>
            <a:ext cx="6217920" cy="45720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o.cached.png"/>
          <p:cNvPicPr>
            <a:picLocks noChangeAspect="1"/>
          </p:cNvPicPr>
          <p:nvPr/>
        </p:nvPicPr>
        <p:blipFill>
          <a:blip r:embed="rId2"/>
          <a:stretch>
            <a:fillRect/>
          </a:stretch>
        </p:blipFill>
        <p:spPr>
          <a:xfrm>
            <a:off x="640080" y="2148840"/>
            <a:ext cx="5852160" cy="3291840"/>
          </a:xfrm>
          <a:prstGeom prst="rect">
            <a:avLst/>
          </a:prstGeom>
        </p:spPr>
      </p:pic>
      <p:sp>
        <p:nvSpPr>
          <p:cNvPr id="9" name="TextBox 8"/>
          <p:cNvSpPr txBox="1"/>
          <p:nvPr/>
        </p:nvSpPr>
        <p:spPr>
          <a:xfrm>
            <a:off x="640080" y="5491480"/>
            <a:ext cx="5852160" cy="274320"/>
          </a:xfrm>
          <a:prstGeom prst="rect">
            <a:avLst/>
          </a:prstGeom>
          <a:noFill/>
        </p:spPr>
        <p:txBody>
          <a:bodyPr wrap="square" anchor="t" lIns="50800" rIns="50800" tIns="25400" bIns="25400">
            <a:spAutoFit/>
          </a:bodyPr>
          <a:lstStyle/>
          <a:p>
            <a:pPr algn="ctr">
              <a:lnSpc>
                <a:spcPct val="115000"/>
              </a:lnSpc>
            </a:pPr>
            <a:r>
              <a:rPr sz="950" b="0" i="0">
                <a:solidFill>
                  <a:srgbClr val="4A6580"/>
                </a:solidFill>
                <a:latin typeface="Consolas"/>
              </a:rPr>
              <a:t>3-D Holo-Hilbert Coordinate Rig &amp; Admissibility Plane (Blender 4.5 Render).</a:t>
            </a:r>
          </a:p>
        </p:txBody>
      </p:sp>
      <p:sp>
        <p:nvSpPr>
          <p:cNvPr id="10" name="Rounded Rectangle 9"/>
          <p:cNvSpPr/>
          <p:nvPr/>
        </p:nvSpPr>
        <p:spPr>
          <a:xfrm>
            <a:off x="6931152" y="1691640"/>
            <a:ext cx="4800600" cy="32918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4032" y="1828800"/>
            <a:ext cx="443484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Synthetic Specification &amp; Verification</a:t>
            </a:r>
          </a:p>
        </p:txBody>
      </p:sp>
      <p:sp>
        <p:nvSpPr>
          <p:cNvPr id="12" name="Rounded Rectangle 11"/>
          <p:cNvSpPr/>
          <p:nvPr/>
        </p:nvSpPr>
        <p:spPr>
          <a:xfrm>
            <a:off x="7114032" y="2194560"/>
            <a:ext cx="4434840" cy="548640"/>
          </a:xfrm>
          <a:prstGeom prst="roundRect">
            <a:avLst>
              <a:gd name="adj" fmla="val 2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x(t) = [1 + 0.7 cos φ_AM(t)] · cos φ_c(t)</a:t>
            </a:r>
          </a:p>
        </p:txBody>
      </p:sp>
      <p:sp>
        <p:nvSpPr>
          <p:cNvPr id="13" name="TextBox 12"/>
          <p:cNvSpPr txBox="1"/>
          <p:nvPr/>
        </p:nvSpPr>
        <p:spPr>
          <a:xfrm>
            <a:off x="7114032" y="2834640"/>
            <a:ext cx="4434840" cy="201168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b="1">
                <a:solidFill>
                  <a:srgbClr val="E8F4F8"/>
                </a:solidFill>
                <a:latin typeface="Inter"/>
              </a:rPr>
              <a:t>Carrier:</a:t>
            </a:r>
            <a:r>
              <a:rPr sz="1150">
                <a:solidFill>
                  <a:srgbClr val="8BA8C4"/>
                </a:solidFill>
                <a:latin typeface="Inter"/>
              </a:rPr>
              <a:t> f_c(t) = 0.50 + 0.15 cos(2πt/300) Hz; recovered in every window</a:t>
            </a:r>
          </a:p>
          <a:p>
            <a:pPr algn="l">
              <a:lnSpc>
                <a:spcPct val="115000"/>
              </a:lnSpc>
              <a:spcAft>
                <a:spcPts val="600"/>
              </a:spcAft>
            </a:pPr>
            <a:r>
              <a:rPr sz="1150">
                <a:solidFill>
                  <a:srgbClr val="4DD9CF"/>
                </a:solidFill>
                <a:latin typeface="Inter"/>
              </a:rPr>
              <a:t>• </a:t>
            </a:r>
            <a:r>
              <a:rPr sz="1150" b="1">
                <a:solidFill>
                  <a:srgbClr val="E8F4F8"/>
                </a:solidFill>
                <a:latin typeface="Inter"/>
              </a:rPr>
              <a:t>Modulation:</a:t>
            </a:r>
            <a:r>
              <a:rPr sz="1150">
                <a:solidFill>
                  <a:srgbClr val="8BA8C4"/>
                </a:solidFill>
                <a:latin typeface="Inter"/>
              </a:rPr>
              <a:t> f_AM(t) = 0.05 + 0.02 sin(2πt/300) Hz</a:t>
            </a:r>
          </a:p>
          <a:p>
            <a:pPr algn="l">
              <a:lnSpc>
                <a:spcPct val="115000"/>
              </a:lnSpc>
              <a:spcAft>
                <a:spcPts val="600"/>
              </a:spcAft>
            </a:pPr>
            <a:r>
              <a:rPr sz="1150">
                <a:solidFill>
                  <a:srgbClr val="4DD9CF"/>
                </a:solidFill>
                <a:latin typeface="Inter"/>
              </a:rPr>
              <a:t>• </a:t>
            </a:r>
            <a:r>
              <a:rPr sz="1150" b="1">
                <a:solidFill>
                  <a:srgbClr val="E8F4F8"/>
                </a:solidFill>
                <a:latin typeface="Inter"/>
              </a:rPr>
              <a:t>Recovery:</a:t>
            </a:r>
            <a:r>
              <a:rPr sz="1150">
                <a:solidFill>
                  <a:srgbClr val="8BA8C4"/>
                </a:solidFill>
                <a:latin typeface="Inter"/>
              </a:rPr>
              <a:t> 25 / 30 windows within 1 bin (83.3%; 90% target not met) — misses are AM-axis, mostly at record edges</a:t>
            </a:r>
          </a:p>
          <a:p>
            <a:pPr algn="l">
              <a:lnSpc>
                <a:spcPct val="115000"/>
              </a:lnSpc>
              <a:spcAft>
                <a:spcPts val="600"/>
              </a:spcAft>
            </a:pPr>
            <a:r>
              <a:rPr sz="1150">
                <a:solidFill>
                  <a:srgbClr val="4DD9CF"/>
                </a:solidFill>
                <a:latin typeface="Inter"/>
              </a:rPr>
              <a:t>• </a:t>
            </a:r>
            <a:r>
              <a:rPr sz="1150" b="1">
                <a:solidFill>
                  <a:srgbClr val="E8F4F8"/>
                </a:solidFill>
                <a:latin typeface="Inter"/>
              </a:rPr>
              <a:t>Admissibility:</a:t>
            </a:r>
            <a:r>
              <a:rPr sz="1150">
                <a:solidFill>
                  <a:srgbClr val="8BA8C4"/>
                </a:solidFill>
                <a:latin typeface="Inter"/>
              </a:rPr>
              <a:t> 1.9% of energy leaks to f_AM ≥ f_c (baseline for real data)</a:t>
            </a:r>
          </a:p>
          <a:p>
            <a:pPr algn="l">
              <a:lnSpc>
                <a:spcPct val="115000"/>
              </a:lnSpc>
              <a:spcAft>
                <a:spcPts val="600"/>
              </a:spcAft>
            </a:pPr>
            <a:r>
              <a:rPr sz="1150">
                <a:solidFill>
                  <a:srgbClr val="4DD9CF"/>
                </a:solidFill>
                <a:latin typeface="Inter"/>
              </a:rPr>
              <a:t>• </a:t>
            </a:r>
            <a:r>
              <a:rPr sz="1150">
                <a:solidFill>
                  <a:srgbClr val="8BA8C4"/>
                </a:solidFill>
                <a:latin typeface="Inter"/>
              </a:rPr>
              <a:t>Projection consistency ≈ 1e-16 (holds by construction)</a:t>
            </a:r>
          </a:p>
        </p:txBody>
      </p:sp>
      <p:sp>
        <p:nvSpPr>
          <p:cNvPr id="14" name="Rounded Rectangle 13"/>
          <p:cNvSpPr/>
          <p:nvPr/>
        </p:nvSpPr>
        <p:spPr>
          <a:xfrm>
            <a:off x="6931152" y="5120640"/>
            <a:ext cx="4800600" cy="1143000"/>
          </a:xfrm>
          <a:prstGeom prst="roundRect">
            <a:avLst>
              <a:gd name="adj" fmla="val 10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4DD9CF"/>
                </a:solidFill>
              </a:rPr>
              <a:t>🚀 Launch Interactive 3-D Web Explorer
</a:t>
            </a:r>
          </a:p>
          <a:p>
            <a:pPr algn="ctr"/>
            <a:r>
              <a:rPr sz="1050">
                <a:solidFill>
                  <a:srgbClr val="8BA8C4"/>
                </a:solidFill>
                <a:latin typeface="Consolas"/>
              </a:rPr>
              <a:t>https://ckt520728.github.io/kidney-cognition-lab/hhsa-3d/explorer.html</a:t>
            </a:r>
          </a:p>
        </p:txBody>
      </p:sp>
      <p:sp>
        <p:nvSpPr>
          <p:cNvPr id="15" name="TextBox 14"/>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6" name="TextBox 15"/>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8 of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I</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§3 PRISMA Scoping Search • Systematic Review</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09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Evidence Map Across Systems</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PRISMA scoping search: 737 records → 711 deduplicated → 130 included studies</a:t>
            </a:r>
          </a:p>
        </p:txBody>
      </p:sp>
      <p:sp>
        <p:nvSpPr>
          <p:cNvPr id="7" name="Rounded Rectangle 6"/>
          <p:cNvSpPr/>
          <p:nvPr/>
        </p:nvSpPr>
        <p:spPr>
          <a:xfrm>
            <a:off x="457200" y="1691640"/>
            <a:ext cx="5394960" cy="23774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01368"/>
            <a:ext cx="502920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Search Scope &amp; Shards (130 Studies)</a:t>
            </a:r>
          </a:p>
        </p:txBody>
      </p:sp>
      <p:sp>
        <p:nvSpPr>
          <p:cNvPr id="9" name="TextBox 8"/>
          <p:cNvSpPr txBox="1"/>
          <p:nvPr/>
        </p:nvSpPr>
        <p:spPr>
          <a:xfrm>
            <a:off x="640080" y="2130552"/>
            <a:ext cx="5029200" cy="59436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Cross-disciplinary scoping search categorized into five distinct thematic shards:</a:t>
            </a:r>
          </a:p>
        </p:txBody>
      </p:sp>
      <p:sp>
        <p:nvSpPr>
          <p:cNvPr id="10" name="TextBox 9"/>
          <p:cNvSpPr txBox="1"/>
          <p:nvPr/>
        </p:nvSpPr>
        <p:spPr>
          <a:xfrm>
            <a:off x="640080" y="2743200"/>
            <a:ext cx="5029200" cy="123444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b="1">
                <a:solidFill>
                  <a:srgbClr val="E8F4F8"/>
                </a:solidFill>
                <a:latin typeface="Inter"/>
              </a:rPr>
              <a:t>S1 Methodology &amp; Algorithms:</a:t>
            </a:r>
            <a:r>
              <a:rPr sz="1150">
                <a:solidFill>
                  <a:srgbClr val="8BA8C4"/>
                </a:solidFill>
                <a:latin typeface="Inter"/>
              </a:rPr>
              <a:t> 24 studies (HHT, EEMD, CEEMDAN, masking, HHSA foundations).</a:t>
            </a:r>
          </a:p>
          <a:p>
            <a:pPr algn="l">
              <a:lnSpc>
                <a:spcPct val="115000"/>
              </a:lnSpc>
              <a:spcAft>
                <a:spcPts val="600"/>
              </a:spcAft>
            </a:pPr>
            <a:r>
              <a:rPr sz="1150">
                <a:solidFill>
                  <a:srgbClr val="4DD9CF"/>
                </a:solidFill>
                <a:latin typeface="Inter"/>
              </a:rPr>
              <a:t>• </a:t>
            </a:r>
            <a:r>
              <a:rPr sz="1150" b="1">
                <a:solidFill>
                  <a:srgbClr val="E8F4F8"/>
                </a:solidFill>
                <a:latin typeface="Inter"/>
              </a:rPr>
              <a:t>S2 Brain (EEG/MEG/ECoG):</a:t>
            </a:r>
            <a:r>
              <a:rPr sz="1150">
                <a:solidFill>
                  <a:srgbClr val="8BA8C4"/>
                </a:solidFill>
                <a:latin typeface="Inter"/>
              </a:rPr>
              <a:t> 38 studies (AD/MCI, epilepsy, depression rTMS, SSVEP, tACS).</a:t>
            </a:r>
          </a:p>
          <a:p>
            <a:pPr algn="l">
              <a:lnSpc>
                <a:spcPct val="115000"/>
              </a:lnSpc>
              <a:spcAft>
                <a:spcPts val="600"/>
              </a:spcAft>
            </a:pPr>
            <a:r>
              <a:rPr sz="1150">
                <a:solidFill>
                  <a:srgbClr val="4DD9CF"/>
                </a:solidFill>
                <a:latin typeface="Inter"/>
              </a:rPr>
              <a:t>• </a:t>
            </a:r>
            <a:r>
              <a:rPr sz="1150" b="1">
                <a:solidFill>
                  <a:srgbClr val="E8F4F8"/>
                </a:solidFill>
                <a:latin typeface="Inter"/>
              </a:rPr>
              <a:t>S3 Heart &amp; Autonomic (HRV):</a:t>
            </a:r>
            <a:r>
              <a:rPr sz="1150">
                <a:solidFill>
                  <a:srgbClr val="8BA8C4"/>
                </a:solidFill>
                <a:latin typeface="Inter"/>
              </a:rPr>
              <a:t> 31 studies (autonomic aging, baroreflex AM, wearable ceilings).</a:t>
            </a:r>
          </a:p>
          <a:p>
            <a:pPr algn="l">
              <a:lnSpc>
                <a:spcPct val="115000"/>
              </a:lnSpc>
              <a:spcAft>
                <a:spcPts val="600"/>
              </a:spcAft>
            </a:pPr>
            <a:r>
              <a:rPr sz="1150">
                <a:solidFill>
                  <a:srgbClr val="4DD9CF"/>
                </a:solidFill>
                <a:latin typeface="Inter"/>
              </a:rPr>
              <a:t>• </a:t>
            </a:r>
            <a:r>
              <a:rPr sz="1150" b="1">
                <a:solidFill>
                  <a:srgbClr val="E8F4F8"/>
                </a:solidFill>
                <a:latin typeface="Inter"/>
              </a:rPr>
              <a:t>S4 Metabolism &amp; Glycemia (CGM):</a:t>
            </a:r>
            <a:r>
              <a:rPr sz="1150">
                <a:solidFill>
                  <a:srgbClr val="8BA8C4"/>
                </a:solidFill>
                <a:latin typeface="Inter"/>
              </a:rPr>
              <a:t> 22 studies (circadian, ultradian, glycemic variability).</a:t>
            </a:r>
          </a:p>
          <a:p>
            <a:pPr algn="l">
              <a:lnSpc>
                <a:spcPct val="115000"/>
              </a:lnSpc>
              <a:spcAft>
                <a:spcPts val="600"/>
              </a:spcAft>
            </a:pPr>
            <a:r>
              <a:rPr sz="1150">
                <a:solidFill>
                  <a:srgbClr val="4DD9CF"/>
                </a:solidFill>
                <a:latin typeface="Inter"/>
              </a:rPr>
              <a:t>• </a:t>
            </a:r>
            <a:r>
              <a:rPr sz="1150" b="1">
                <a:solidFill>
                  <a:srgbClr val="E8F4F8"/>
                </a:solidFill>
                <a:latin typeface="Inter"/>
              </a:rPr>
              <a:t>S5 Cross-System Coupling:</a:t>
            </a:r>
            <a:r>
              <a:rPr sz="1150">
                <a:solidFill>
                  <a:srgbClr val="8BA8C4"/>
                </a:solidFill>
                <a:latin typeface="Inter"/>
              </a:rPr>
              <a:t> 15 studies (network physiology, sleep neuroenergetics).</a:t>
            </a:r>
          </a:p>
        </p:txBody>
      </p:sp>
      <p:sp>
        <p:nvSpPr>
          <p:cNvPr id="11" name="Rounded Rectangle 10"/>
          <p:cNvSpPr/>
          <p:nvPr/>
        </p:nvSpPr>
        <p:spPr>
          <a:xfrm>
            <a:off x="457200" y="4206240"/>
            <a:ext cx="5394960" cy="20574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315968"/>
            <a:ext cx="502920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PRISMA Selection Funnel</a:t>
            </a:r>
          </a:p>
        </p:txBody>
      </p:sp>
      <p:sp>
        <p:nvSpPr>
          <p:cNvPr id="13" name="TextBox 12"/>
          <p:cNvSpPr txBox="1"/>
          <p:nvPr/>
        </p:nvSpPr>
        <p:spPr>
          <a:xfrm>
            <a:off x="640080" y="4645152"/>
            <a:ext cx="5029200" cy="59436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Searched PubMed, IEEE Xplore, Web of Science, and Scopus through October 2026. 737 raw hits yielded 711 records post-deduplication; 130 full texts met strict physiological inclusion criteria.</a:t>
            </a:r>
          </a:p>
        </p:txBody>
      </p:sp>
      <p:sp>
        <p:nvSpPr>
          <p:cNvPr id="14" name="Rounded Rectangle 13"/>
          <p:cNvSpPr/>
          <p:nvPr/>
        </p:nvSpPr>
        <p:spPr>
          <a:xfrm>
            <a:off x="6108192" y="1691640"/>
            <a:ext cx="5623560" cy="45720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7_evidence_map.png"/>
          <p:cNvPicPr>
            <a:picLocks noChangeAspect="1"/>
          </p:cNvPicPr>
          <p:nvPr/>
        </p:nvPicPr>
        <p:blipFill>
          <a:blip r:embed="rId2"/>
          <a:stretch>
            <a:fillRect/>
          </a:stretch>
        </p:blipFill>
        <p:spPr>
          <a:xfrm>
            <a:off x="6291072" y="2692587"/>
            <a:ext cx="5257800" cy="2295785"/>
          </a:xfrm>
          <a:prstGeom prst="rect">
            <a:avLst/>
          </a:prstGeom>
        </p:spPr>
      </p:pic>
      <p:sp>
        <p:nvSpPr>
          <p:cNvPr id="16" name="TextBox 15"/>
          <p:cNvSpPr txBox="1"/>
          <p:nvPr/>
        </p:nvSpPr>
        <p:spPr>
          <a:xfrm>
            <a:off x="6291072" y="5039172"/>
            <a:ext cx="5257800" cy="274320"/>
          </a:xfrm>
          <a:prstGeom prst="rect">
            <a:avLst/>
          </a:prstGeom>
          <a:noFill/>
        </p:spPr>
        <p:txBody>
          <a:bodyPr wrap="square" anchor="t" lIns="50800" rIns="50800" tIns="25400" bIns="25400">
            <a:spAutoFit/>
          </a:bodyPr>
          <a:lstStyle/>
          <a:p>
            <a:pPr algn="ctr">
              <a:lnSpc>
                <a:spcPct val="115000"/>
              </a:lnSpc>
            </a:pPr>
            <a:r>
              <a:rPr sz="950" b="0" i="0">
                <a:solidFill>
                  <a:srgbClr val="4A6580"/>
                </a:solidFill>
                <a:latin typeface="Consolas"/>
              </a:rPr>
              <a:t>Figure F7: Evidence map cross-tabulating physiological domain vs. decomposition method class.</a:t>
            </a:r>
          </a:p>
        </p:txBody>
      </p:sp>
      <p:sp>
        <p:nvSpPr>
          <p:cNvPr id="17" name="TextBox 16"/>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8" name="TextBox 17"/>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9 of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I</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§4.1 Clinical Neuroscience • Clinical Validation</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10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Brain: What HHSA Revealed in Neurological Disorders</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Capturing subtle cross-frequency breakdown in neurodegeneration and neuromodulation</a:t>
            </a:r>
          </a:p>
        </p:txBody>
      </p:sp>
      <p:sp>
        <p:nvSpPr>
          <p:cNvPr id="7" name="Rounded Rectangle 6"/>
          <p:cNvSpPr/>
          <p:nvPr/>
        </p:nvSpPr>
        <p:spPr>
          <a:xfrm>
            <a:off x="457200"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AD &amp; MCI (Chu et al. 2023)</a:t>
            </a:r>
          </a:p>
        </p:txBody>
      </p:sp>
      <p:sp>
        <p:nvSpPr>
          <p:cNvPr id="9" name="TextBox 8"/>
          <p:cNvSpPr txBox="1"/>
          <p:nvPr/>
        </p:nvSpPr>
        <p:spPr>
          <a:xfrm>
            <a:off x="594360"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Thalamocortical Dysrhythmia: In Alzheimer's Disease and Mild Cognitive Impairment, HHSA demonstrated that delta–theta carrier modulation by infraslow envelopes is severely degraded.</a:t>
            </a:r>
          </a:p>
        </p:txBody>
      </p:sp>
      <p:sp>
        <p:nvSpPr>
          <p:cNvPr id="10" name="TextBox 9"/>
          <p:cNvSpPr txBox="1"/>
          <p:nvPr/>
        </p:nvSpPr>
        <p:spPr>
          <a:xfrm>
            <a:off x="594360"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Detects network disconnection before overt structural brain atrophy.</a:t>
            </a:r>
          </a:p>
          <a:p>
            <a:pPr algn="l">
              <a:lnSpc>
                <a:spcPct val="115000"/>
              </a:lnSpc>
              <a:spcAft>
                <a:spcPts val="600"/>
              </a:spcAft>
            </a:pPr>
            <a:r>
              <a:rPr sz="1150">
                <a:solidFill>
                  <a:srgbClr val="4DD9CF"/>
                </a:solidFill>
                <a:latin typeface="Inter"/>
              </a:rPr>
              <a:t>• </a:t>
            </a:r>
            <a:r>
              <a:rPr sz="1150">
                <a:solidFill>
                  <a:srgbClr val="8BA8C4"/>
                </a:solidFill>
                <a:latin typeface="Inter"/>
              </a:rPr>
              <a:t>Preserves instantaneous frequency without Fourier sideband smearing.</a:t>
            </a:r>
          </a:p>
        </p:txBody>
      </p:sp>
      <p:sp>
        <p:nvSpPr>
          <p:cNvPr id="11" name="Rounded Rectangle 10"/>
          <p:cNvSpPr/>
          <p:nvPr/>
        </p:nvSpPr>
        <p:spPr>
          <a:xfrm>
            <a:off x="4288536"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25696"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Neuromodulation (tACS / rTMS)</a:t>
            </a:r>
          </a:p>
        </p:txBody>
      </p:sp>
      <p:sp>
        <p:nvSpPr>
          <p:cNvPr id="13" name="TextBox 12"/>
          <p:cNvSpPr txBox="1"/>
          <p:nvPr/>
        </p:nvSpPr>
        <p:spPr>
          <a:xfrm>
            <a:off x="4425696"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Exogenous Entrainment: In major depressive disorder, rTMS alters prefrontal theta-gamma modulation energy.</a:t>
            </a:r>
          </a:p>
        </p:txBody>
      </p:sp>
      <p:sp>
        <p:nvSpPr>
          <p:cNvPr id="14" name="TextBox 13"/>
          <p:cNvSpPr txBox="1"/>
          <p:nvPr/>
        </p:nvSpPr>
        <p:spPr>
          <a:xfrm>
            <a:off x="4425696"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AM-tACS delivery creates precise nested fields driving targeted cortical layers.</a:t>
            </a:r>
          </a:p>
          <a:p>
            <a:pPr algn="l">
              <a:lnSpc>
                <a:spcPct val="115000"/>
              </a:lnSpc>
              <a:spcAft>
                <a:spcPts val="600"/>
              </a:spcAft>
            </a:pPr>
            <a:r>
              <a:rPr sz="1150">
                <a:solidFill>
                  <a:srgbClr val="4DD9CF"/>
                </a:solidFill>
                <a:latin typeface="Inter"/>
              </a:rPr>
              <a:t>• </a:t>
            </a:r>
            <a:r>
              <a:rPr sz="1150">
                <a:solidFill>
                  <a:srgbClr val="8BA8C4"/>
                </a:solidFill>
                <a:latin typeface="Inter"/>
              </a:rPr>
              <a:t>SSVEP experiments reveal exact harmonic carrier modulations induced by visual flicker.</a:t>
            </a:r>
          </a:p>
        </p:txBody>
      </p:sp>
      <p:sp>
        <p:nvSpPr>
          <p:cNvPr id="15" name="Rounded Rectangle 14"/>
          <p:cNvSpPr/>
          <p:nvPr/>
        </p:nvSpPr>
        <p:spPr>
          <a:xfrm>
            <a:off x="8119872"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57032"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Parkinson's &amp; Working Memory</a:t>
            </a:r>
          </a:p>
        </p:txBody>
      </p:sp>
      <p:sp>
        <p:nvSpPr>
          <p:cNvPr id="17" name="TextBox 16"/>
          <p:cNvSpPr txBox="1"/>
          <p:nvPr/>
        </p:nvSpPr>
        <p:spPr>
          <a:xfrm>
            <a:off x="8257032"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Pathological Burst Dynamics: Subthalamic nucleus and cortical beta burst modulations characterize motor freezing in Parkinson's disease.</a:t>
            </a:r>
          </a:p>
        </p:txBody>
      </p:sp>
      <p:sp>
        <p:nvSpPr>
          <p:cNvPr id="18" name="TextBox 17"/>
          <p:cNvSpPr txBox="1"/>
          <p:nvPr/>
        </p:nvSpPr>
        <p:spPr>
          <a:xfrm>
            <a:off x="8257032"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Visual working memory load dynamically modulates gamma burst envelopes.</a:t>
            </a:r>
          </a:p>
          <a:p>
            <a:pPr algn="l">
              <a:lnSpc>
                <a:spcPct val="115000"/>
              </a:lnSpc>
              <a:spcAft>
                <a:spcPts val="600"/>
              </a:spcAft>
            </a:pPr>
            <a:r>
              <a:rPr sz="1150">
                <a:solidFill>
                  <a:srgbClr val="4DD9CF"/>
                </a:solidFill>
                <a:latin typeface="Inter"/>
              </a:rPr>
              <a:t>• </a:t>
            </a:r>
            <a:r>
              <a:rPr sz="1150">
                <a:solidFill>
                  <a:srgbClr val="8BA8C4"/>
                </a:solidFill>
                <a:latin typeface="Inter"/>
              </a:rPr>
              <a:t>HHSA separates instantaneous burst rate from amplitude envelope magnitude.</a:t>
            </a:r>
          </a:p>
        </p:txBody>
      </p:sp>
      <p:sp>
        <p:nvSpPr>
          <p:cNvPr id="19" name="Rounded Rectangle 18"/>
          <p:cNvSpPr/>
          <p:nvPr/>
        </p:nvSpPr>
        <p:spPr>
          <a:xfrm>
            <a:off x="457200" y="5394960"/>
            <a:ext cx="11277295" cy="868680"/>
          </a:xfrm>
          <a:prstGeom prst="roundRect">
            <a:avLst>
              <a:gd name="adj" fmla="val 2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b="1" sz="1250">
                <a:solidFill>
                  <a:srgbClr val="4DD9CF"/>
                </a:solidFill>
                <a:latin typeface="Inter"/>
              </a:rPr>
              <a:t>Key Finding: </a:t>
            </a:r>
            <a:r>
              <a:rPr sz="1250">
                <a:solidFill>
                  <a:srgbClr val="E8F4F8"/>
                </a:solidFill>
                <a:latin typeface="Consolas"/>
              </a:rPr>
              <a:t>Traditional EEG power spectra miss up to 60% of dynamic cross-frequency alterations because they collapse modulation envelopes into static frequency bands.</a:t>
            </a:r>
          </a:p>
        </p:txBody>
      </p:sp>
      <p:sp>
        <p:nvSpPr>
          <p:cNvPr id="20" name="TextBox 19"/>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21" name="TextBox 20"/>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10 of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I</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§4.2 Autonomic Physiology • Cardiovascular Dynamics</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11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Heart: HRV, Autonomic Aging, &amp; Wearable Ceilings</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Resolving instantaneous baroreflex AM while respecting physical duration constraints</a:t>
            </a:r>
          </a:p>
        </p:txBody>
      </p:sp>
      <p:sp>
        <p:nvSpPr>
          <p:cNvPr id="7" name="Rounded Rectangle 6"/>
          <p:cNvSpPr/>
          <p:nvPr/>
        </p:nvSpPr>
        <p:spPr>
          <a:xfrm>
            <a:off x="457200" y="1691640"/>
            <a:ext cx="5303520" cy="23774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493776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Autonomic Aging &amp; Baroreflex AM</a:t>
            </a:r>
          </a:p>
        </p:txBody>
      </p:sp>
      <p:sp>
        <p:nvSpPr>
          <p:cNvPr id="9" name="TextBox 8"/>
          <p:cNvSpPr txBox="1"/>
          <p:nvPr/>
        </p:nvSpPr>
        <p:spPr>
          <a:xfrm>
            <a:off x="640080" y="2194560"/>
            <a:ext cx="4937760" cy="64008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Cardiovascular aging is marked by progressive vagal withdrawal and blunted arterial baroreflex responsiveness. Traditional stationary HRV metrics (LF/HF ratio) fail during ambulatory recordings.</a:t>
            </a:r>
          </a:p>
        </p:txBody>
      </p:sp>
      <p:sp>
        <p:nvSpPr>
          <p:cNvPr id="10" name="TextBox 9"/>
          <p:cNvSpPr txBox="1"/>
          <p:nvPr/>
        </p:nvSpPr>
        <p:spPr>
          <a:xfrm>
            <a:off x="640080" y="2880360"/>
            <a:ext cx="4937760" cy="10515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b="1">
                <a:solidFill>
                  <a:srgbClr val="E8F4F8"/>
                </a:solidFill>
                <a:latin typeface="Inter"/>
              </a:rPr>
              <a:t>Respiratory Sinus Arrhythmia (HF 0.15–0.40 Hz):</a:t>
            </a:r>
            <a:r>
              <a:rPr sz="1150">
                <a:solidFill>
                  <a:srgbClr val="8BA8C4"/>
                </a:solidFill>
                <a:latin typeface="Inter"/>
              </a:rPr>
              <a:t> High-frequency carrier generated by vagal efferents.</a:t>
            </a:r>
          </a:p>
          <a:p>
            <a:pPr algn="l">
              <a:lnSpc>
                <a:spcPct val="115000"/>
              </a:lnSpc>
              <a:spcAft>
                <a:spcPts val="600"/>
              </a:spcAft>
            </a:pPr>
            <a:r>
              <a:rPr sz="1150">
                <a:solidFill>
                  <a:srgbClr val="4DD9CF"/>
                </a:solidFill>
                <a:latin typeface="Inter"/>
              </a:rPr>
              <a:t>• </a:t>
            </a:r>
            <a:r>
              <a:rPr sz="1150" b="1">
                <a:solidFill>
                  <a:srgbClr val="E8F4F8"/>
                </a:solidFill>
                <a:latin typeface="Inter"/>
              </a:rPr>
              <a:t>Mayer Waves (LF 0.04–0.15 Hz):</a:t>
            </a:r>
            <a:r>
              <a:rPr sz="1150">
                <a:solidFill>
                  <a:srgbClr val="8BA8C4"/>
                </a:solidFill>
                <a:latin typeface="Inter"/>
              </a:rPr>
              <a:t> Modulate the amplitude of RSA in real time, reflecting baroreflex engagement.</a:t>
            </a:r>
          </a:p>
        </p:txBody>
      </p:sp>
      <p:sp>
        <p:nvSpPr>
          <p:cNvPr id="11" name="Rounded Rectangle 10"/>
          <p:cNvSpPr/>
          <p:nvPr/>
        </p:nvSpPr>
        <p:spPr>
          <a:xfrm>
            <a:off x="457200" y="4206240"/>
            <a:ext cx="5303520" cy="201168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343400"/>
            <a:ext cx="4937760" cy="320040"/>
          </a:xfrm>
          <a:prstGeom prst="rect">
            <a:avLst/>
          </a:prstGeom>
          <a:noFill/>
        </p:spPr>
        <p:txBody>
          <a:bodyPr wrap="square" anchor="t" lIns="50800" rIns="50800" tIns="25400" bIns="25400">
            <a:spAutoFit/>
          </a:bodyPr>
          <a:lstStyle/>
          <a:p>
            <a:pPr algn="l">
              <a:lnSpc>
                <a:spcPct val="115000"/>
              </a:lnSpc>
            </a:pPr>
            <a:r>
              <a:rPr sz="1400" b="1" i="0">
                <a:solidFill>
                  <a:srgbClr val="F87171"/>
                </a:solidFill>
                <a:latin typeface="Inter"/>
              </a:rPr>
              <a:t>The Wearable Optical PPG Ceiling</a:t>
            </a:r>
          </a:p>
        </p:txBody>
      </p:sp>
      <p:sp>
        <p:nvSpPr>
          <p:cNvPr id="13" name="TextBox 12"/>
          <p:cNvSpPr txBox="1"/>
          <p:nvPr/>
        </p:nvSpPr>
        <p:spPr>
          <a:xfrm>
            <a:off x="640080" y="4681728"/>
            <a:ext cx="4937760" cy="50292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Modern smartwatches record short optical PPG bursts (&lt; 10 min). Such ultra-short data impose strict limits:</a:t>
            </a:r>
          </a:p>
        </p:txBody>
      </p:sp>
      <p:sp>
        <p:nvSpPr>
          <p:cNvPr id="14" name="Rounded Rectangle 13"/>
          <p:cNvSpPr/>
          <p:nvPr/>
        </p:nvSpPr>
        <p:spPr>
          <a:xfrm>
            <a:off x="640080" y="5166360"/>
            <a:ext cx="4937760" cy="457200"/>
          </a:xfrm>
          <a:prstGeom prst="roundRect">
            <a:avLst>
              <a:gd name="adj" fmla="val 2000"/>
            </a:avLst>
          </a:prstGeom>
          <a:solidFill>
            <a:srgbClr val="162248"/>
          </a:solidFill>
          <a:ln w="1524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T &lt; 10 min =&gt; VLF (&lt; 0.04 Hz) is Partially or Fully Unresolvable</a:t>
            </a:r>
          </a:p>
        </p:txBody>
      </p:sp>
      <p:sp>
        <p:nvSpPr>
          <p:cNvPr id="15" name="TextBox 14"/>
          <p:cNvSpPr txBox="1"/>
          <p:nvPr/>
        </p:nvSpPr>
        <p:spPr>
          <a:xfrm>
            <a:off x="640080" y="5669280"/>
            <a:ext cx="4937760" cy="457200"/>
          </a:xfrm>
          <a:prstGeom prst="rect">
            <a:avLst/>
          </a:prstGeom>
          <a:noFill/>
        </p:spPr>
        <p:txBody>
          <a:bodyPr wrap="square" anchor="t" lIns="50800" rIns="50800" tIns="25400" bIns="25400">
            <a:normAutofit/>
          </a:bodyPr>
          <a:lstStyle/>
          <a:p>
            <a:pPr algn="l">
              <a:lnSpc>
                <a:spcPct val="115000"/>
              </a:lnSpc>
              <a:spcAft>
                <a:spcPts val="200"/>
              </a:spcAft>
            </a:pPr>
            <a:r>
              <a:rPr sz="1100">
                <a:solidFill>
                  <a:srgbClr val="4DD9CF"/>
                </a:solidFill>
                <a:latin typeface="Inter"/>
              </a:rPr>
              <a:t>• </a:t>
            </a:r>
            <a:r>
              <a:rPr sz="1100">
                <a:solidFill>
                  <a:srgbClr val="8BA8C4"/>
                </a:solidFill>
                <a:latin typeface="Inter"/>
              </a:rPr>
              <a:t>Attempting to quantify VLF power from short wearable segments generates spurious noise artifacts.</a:t>
            </a:r>
          </a:p>
        </p:txBody>
      </p:sp>
      <p:sp>
        <p:nvSpPr>
          <p:cNvPr id="16" name="Rounded Rectangle 15"/>
          <p:cNvSpPr/>
          <p:nvPr/>
        </p:nvSpPr>
        <p:spPr>
          <a:xfrm>
            <a:off x="6016752" y="1691640"/>
            <a:ext cx="5715000" cy="452628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9632" y="1828800"/>
            <a:ext cx="534924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HRV Band Hierarchy in HHSA</a:t>
            </a:r>
          </a:p>
        </p:txBody>
      </p:sp>
      <p:graphicFrame>
        <p:nvGraphicFramePr>
          <p:cNvPr id="18" name="Table 17"/>
          <p:cNvGraphicFramePr>
            <a:graphicFrameLocks noGrp="1"/>
          </p:cNvGraphicFramePr>
          <p:nvPr/>
        </p:nvGraphicFramePr>
        <p:xfrm>
          <a:off x="6199632" y="2286000"/>
          <a:ext cx="5577840" cy="3474720"/>
        </p:xfrm>
        <a:graphic>
          <a:graphicData uri="http://schemas.openxmlformats.org/drawingml/2006/table">
            <a:tbl>
              <a:tblPr firstRow="1" bandRow="1">
                <a:tableStyleId>{5C22544A-7EE6-4342-B048-85BDC9FD1C3A}</a:tableStyleId>
              </a:tblPr>
              <a:tblGrid>
                <a:gridCol w="914400"/>
                <a:gridCol w="1371600"/>
                <a:gridCol w="2011680"/>
                <a:gridCol w="1280160"/>
              </a:tblGrid>
              <a:tr h="868680">
                <a:tc>
                  <a:txBody>
                    <a:bodyPr/>
                    <a:lstStyle/>
                    <a:p>
                      <a:pPr algn="l"/>
                      <a:r>
                        <a:rPr b="1" sz="1100">
                          <a:solidFill>
                            <a:srgbClr val="4DD9CF"/>
                          </a:solidFill>
                          <a:latin typeface="Inter"/>
                        </a:rPr>
                        <a:t>Band</a:t>
                      </a:r>
                    </a:p>
                  </a:txBody>
                  <a:tcPr marL="76200" marR="76200" marT="50800" marB="50800">
                    <a:solidFill>
                      <a:srgbClr val="162248"/>
                    </a:solidFill>
                  </a:tcPr>
                </a:tc>
                <a:tc>
                  <a:txBody>
                    <a:bodyPr/>
                    <a:lstStyle/>
                    <a:p>
                      <a:pPr algn="l"/>
                      <a:r>
                        <a:rPr b="1" sz="1100">
                          <a:solidFill>
                            <a:srgbClr val="4DD9CF"/>
                          </a:solidFill>
                          <a:latin typeface="Inter"/>
                        </a:rPr>
                        <a:t>Frequency</a:t>
                      </a:r>
                    </a:p>
                  </a:txBody>
                  <a:tcPr marL="76200" marR="76200" marT="50800" marB="50800">
                    <a:solidFill>
                      <a:srgbClr val="162248"/>
                    </a:solidFill>
                  </a:tcPr>
                </a:tc>
                <a:tc>
                  <a:txBody>
                    <a:bodyPr/>
                    <a:lstStyle/>
                    <a:p>
                      <a:pPr algn="l"/>
                      <a:r>
                        <a:rPr b="1" sz="1100">
                          <a:solidFill>
                            <a:srgbClr val="4DD9CF"/>
                          </a:solidFill>
                          <a:latin typeface="Inter"/>
                        </a:rPr>
                        <a:t>Physiological Role</a:t>
                      </a:r>
                    </a:p>
                  </a:txBody>
                  <a:tcPr marL="76200" marR="76200" marT="50800" marB="50800">
                    <a:solidFill>
                      <a:srgbClr val="162248"/>
                    </a:solidFill>
                  </a:tcPr>
                </a:tc>
                <a:tc>
                  <a:txBody>
                    <a:bodyPr/>
                    <a:lstStyle/>
                    <a:p>
                      <a:pPr algn="l"/>
                      <a:r>
                        <a:rPr b="1" sz="1100">
                          <a:solidFill>
                            <a:srgbClr val="4DD9CF"/>
                          </a:solidFill>
                          <a:latin typeface="Inter"/>
                        </a:rPr>
                        <a:t>Min. Resolvable T (3/f)</a:t>
                      </a:r>
                    </a:p>
                  </a:txBody>
                  <a:tcPr marL="76200" marR="76200" marT="50800" marB="50800">
                    <a:solidFill>
                      <a:srgbClr val="162248"/>
                    </a:solidFill>
                  </a:tcPr>
                </a:tc>
              </a:tr>
              <a:tr h="868680">
                <a:tc>
                  <a:txBody>
                    <a:bodyPr/>
                    <a:lstStyle/>
                    <a:p>
                      <a:pPr algn="l"/>
                      <a:r>
                        <a:rPr sz="1050" b="1">
                          <a:solidFill>
                            <a:srgbClr val="E8F4F8"/>
                          </a:solidFill>
                          <a:latin typeface="Inter"/>
                        </a:rPr>
                        <a:t>HF</a:t>
                      </a:r>
                    </a:p>
                  </a:txBody>
                  <a:tcPr marL="76200" marR="76200" marT="50800" marB="50800">
                    <a:solidFill>
                      <a:srgbClr val="111D3C"/>
                    </a:solidFill>
                  </a:tcPr>
                </a:tc>
                <a:tc>
                  <a:txBody>
                    <a:bodyPr/>
                    <a:lstStyle/>
                    <a:p>
                      <a:pPr algn="l"/>
                      <a:r>
                        <a:rPr sz="1050">
                          <a:solidFill>
                            <a:srgbClr val="8BA8C4"/>
                          </a:solidFill>
                          <a:latin typeface="Inter"/>
                        </a:rPr>
                        <a:t>0.15–0.40 Hz</a:t>
                      </a:r>
                    </a:p>
                  </a:txBody>
                  <a:tcPr marL="76200" marR="76200" marT="50800" marB="50800">
                    <a:solidFill>
                      <a:srgbClr val="111D3C"/>
                    </a:solidFill>
                  </a:tcPr>
                </a:tc>
                <a:tc>
                  <a:txBody>
                    <a:bodyPr/>
                    <a:lstStyle/>
                    <a:p>
                      <a:pPr algn="l"/>
                      <a:r>
                        <a:rPr sz="1050">
                          <a:solidFill>
                            <a:srgbClr val="8BA8C4"/>
                          </a:solidFill>
                          <a:latin typeface="Inter"/>
                        </a:rPr>
                        <a:t>Vagal / Respiratory Sinus Arrhythmia</a:t>
                      </a:r>
                    </a:p>
                  </a:txBody>
                  <a:tcPr marL="76200" marR="76200" marT="50800" marB="50800">
                    <a:solidFill>
                      <a:srgbClr val="111D3C"/>
                    </a:solidFill>
                  </a:tcPr>
                </a:tc>
                <a:tc>
                  <a:txBody>
                    <a:bodyPr/>
                    <a:lstStyle/>
                    <a:p>
                      <a:pPr algn="l"/>
                      <a:r>
                        <a:rPr sz="1050">
                          <a:solidFill>
                            <a:srgbClr val="8BA8C4"/>
                          </a:solidFill>
                          <a:latin typeface="Inter"/>
                        </a:rPr>
                        <a:t>20 seconds</a:t>
                      </a:r>
                    </a:p>
                  </a:txBody>
                  <a:tcPr marL="76200" marR="76200" marT="50800" marB="50800">
                    <a:solidFill>
                      <a:srgbClr val="111D3C"/>
                    </a:solidFill>
                  </a:tcPr>
                </a:tc>
              </a:tr>
              <a:tr h="868680">
                <a:tc>
                  <a:txBody>
                    <a:bodyPr/>
                    <a:lstStyle/>
                    <a:p>
                      <a:pPr algn="l"/>
                      <a:r>
                        <a:rPr sz="1050" b="1">
                          <a:solidFill>
                            <a:srgbClr val="E8F4F8"/>
                          </a:solidFill>
                          <a:latin typeface="Inter"/>
                        </a:rPr>
                        <a:t>LF</a:t>
                      </a:r>
                    </a:p>
                  </a:txBody>
                  <a:tcPr marL="76200" marR="76200" marT="50800" marB="50800">
                    <a:solidFill>
                      <a:srgbClr val="162248"/>
                    </a:solidFill>
                  </a:tcPr>
                </a:tc>
                <a:tc>
                  <a:txBody>
                    <a:bodyPr/>
                    <a:lstStyle/>
                    <a:p>
                      <a:pPr algn="l"/>
                      <a:r>
                        <a:rPr sz="1050">
                          <a:solidFill>
                            <a:srgbClr val="8BA8C4"/>
                          </a:solidFill>
                          <a:latin typeface="Inter"/>
                        </a:rPr>
                        <a:t>0.04–0.15 Hz</a:t>
                      </a:r>
                    </a:p>
                  </a:txBody>
                  <a:tcPr marL="76200" marR="76200" marT="50800" marB="50800">
                    <a:solidFill>
                      <a:srgbClr val="162248"/>
                    </a:solidFill>
                  </a:tcPr>
                </a:tc>
                <a:tc>
                  <a:txBody>
                    <a:bodyPr/>
                    <a:lstStyle/>
                    <a:p>
                      <a:pPr algn="l"/>
                      <a:r>
                        <a:rPr sz="1050">
                          <a:solidFill>
                            <a:srgbClr val="8BA8C4"/>
                          </a:solidFill>
                          <a:latin typeface="Inter"/>
                        </a:rPr>
                        <a:t>Baroreceptor / Sympathetic Mayer Waves</a:t>
                      </a:r>
                    </a:p>
                  </a:txBody>
                  <a:tcPr marL="76200" marR="76200" marT="50800" marB="50800">
                    <a:solidFill>
                      <a:srgbClr val="162248"/>
                    </a:solidFill>
                  </a:tcPr>
                </a:tc>
                <a:tc>
                  <a:txBody>
                    <a:bodyPr/>
                    <a:lstStyle/>
                    <a:p>
                      <a:pPr algn="l"/>
                      <a:r>
                        <a:rPr sz="1050">
                          <a:solidFill>
                            <a:srgbClr val="8BA8C4"/>
                          </a:solidFill>
                          <a:latin typeface="Inter"/>
                        </a:rPr>
                        <a:t>75 seconds</a:t>
                      </a:r>
                    </a:p>
                  </a:txBody>
                  <a:tcPr marL="76200" marR="76200" marT="50800" marB="50800">
                    <a:solidFill>
                      <a:srgbClr val="162248"/>
                    </a:solidFill>
                  </a:tcPr>
                </a:tc>
              </a:tr>
              <a:tr h="868680">
                <a:tc>
                  <a:txBody>
                    <a:bodyPr/>
                    <a:lstStyle/>
                    <a:p>
                      <a:pPr algn="l"/>
                      <a:r>
                        <a:rPr sz="1050" b="1">
                          <a:solidFill>
                            <a:srgbClr val="E8F4F8"/>
                          </a:solidFill>
                          <a:latin typeface="Inter"/>
                        </a:rPr>
                        <a:t>VLF</a:t>
                      </a:r>
                    </a:p>
                  </a:txBody>
                  <a:tcPr marL="76200" marR="76200" marT="50800" marB="50800">
                    <a:solidFill>
                      <a:srgbClr val="111D3C"/>
                    </a:solidFill>
                  </a:tcPr>
                </a:tc>
                <a:tc>
                  <a:txBody>
                    <a:bodyPr/>
                    <a:lstStyle/>
                    <a:p>
                      <a:pPr algn="l"/>
                      <a:r>
                        <a:rPr sz="1050">
                          <a:solidFill>
                            <a:srgbClr val="8BA8C4"/>
                          </a:solidFill>
                          <a:latin typeface="Inter"/>
                        </a:rPr>
                        <a:t>0.0033–0.04 Hz</a:t>
                      </a:r>
                    </a:p>
                  </a:txBody>
                  <a:tcPr marL="76200" marR="76200" marT="50800" marB="50800">
                    <a:solidFill>
                      <a:srgbClr val="111D3C"/>
                    </a:solidFill>
                  </a:tcPr>
                </a:tc>
                <a:tc>
                  <a:txBody>
                    <a:bodyPr/>
                    <a:lstStyle/>
                    <a:p>
                      <a:pPr algn="l"/>
                      <a:r>
                        <a:rPr sz="1050">
                          <a:solidFill>
                            <a:srgbClr val="8BA8C4"/>
                          </a:solidFill>
                          <a:latin typeface="Inter"/>
                        </a:rPr>
                        <a:t>Thermoregulation / Renin-Angiotensin</a:t>
                      </a:r>
                    </a:p>
                  </a:txBody>
                  <a:tcPr marL="76200" marR="76200" marT="50800" marB="50800">
                    <a:solidFill>
                      <a:srgbClr val="111D3C"/>
                    </a:solidFill>
                  </a:tcPr>
                </a:tc>
                <a:tc>
                  <a:txBody>
                    <a:bodyPr/>
                    <a:lstStyle/>
                    <a:p>
                      <a:pPr algn="l"/>
                      <a:r>
                        <a:rPr sz="1050">
                          <a:solidFill>
                            <a:srgbClr val="8BA8C4"/>
                          </a:solidFill>
                          <a:latin typeface="Inter"/>
                        </a:rPr>
                        <a:t>15.1 minutes (UNRESOLVABLE on short runs!)</a:t>
                      </a:r>
                    </a:p>
                  </a:txBody>
                  <a:tcPr marL="76200" marR="76200" marT="50800" marB="50800">
                    <a:solidFill>
                      <a:srgbClr val="111D3C"/>
                    </a:solidFill>
                  </a:tcPr>
                </a:tc>
              </a:tr>
            </a:tbl>
          </a:graphicData>
        </a:graphic>
      </p:graphicFrame>
      <p:sp>
        <p:nvSpPr>
          <p:cNvPr id="19" name="TextBox 18"/>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20" name="TextBox 19"/>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11 of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I</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§4.3 Metabolic Dynamics • Endocrine Rhythms</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12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Metabolism: Glucose Rhythms &amp; Continuous Monitoring</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Consensus clinical metrics (TIR/CV) vs. multi-scale nested glycemic dynamics</a:t>
            </a:r>
          </a:p>
        </p:txBody>
      </p:sp>
      <p:sp>
        <p:nvSpPr>
          <p:cNvPr id="7" name="Rounded Rectangle 6"/>
          <p:cNvSpPr/>
          <p:nvPr/>
        </p:nvSpPr>
        <p:spPr>
          <a:xfrm>
            <a:off x="457200" y="1691640"/>
            <a:ext cx="5486400" cy="44805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74520"/>
            <a:ext cx="5029200" cy="365760"/>
          </a:xfrm>
          <a:prstGeom prst="rect">
            <a:avLst/>
          </a:prstGeom>
          <a:noFill/>
        </p:spPr>
        <p:txBody>
          <a:bodyPr wrap="square" anchor="t" lIns="50800" rIns="50800" tIns="25400" bIns="25400">
            <a:spAutoFit/>
          </a:bodyPr>
          <a:lstStyle/>
          <a:p>
            <a:pPr algn="l">
              <a:lnSpc>
                <a:spcPct val="115000"/>
              </a:lnSpc>
            </a:pPr>
            <a:r>
              <a:rPr sz="1600" b="1" i="0">
                <a:solidFill>
                  <a:srgbClr val="4DD9CF"/>
                </a:solidFill>
                <a:latin typeface="Inter"/>
              </a:rPr>
              <a:t>The Three-Tier Glycemic Hierarchy</a:t>
            </a:r>
          </a:p>
        </p:txBody>
      </p:sp>
      <p:sp>
        <p:nvSpPr>
          <p:cNvPr id="9" name="TextBox 8"/>
          <p:cNvSpPr txBox="1"/>
          <p:nvPr/>
        </p:nvSpPr>
        <p:spPr>
          <a:xfrm>
            <a:off x="685800" y="2313432"/>
            <a:ext cx="5029200" cy="731520"/>
          </a:xfrm>
          <a:prstGeom prst="rect">
            <a:avLst/>
          </a:prstGeom>
          <a:noFill/>
        </p:spPr>
        <p:txBody>
          <a:bodyPr wrap="square" anchor="t" lIns="50800" rIns="50800" tIns="25400" bIns="25400">
            <a:spAutoFit/>
          </a:bodyPr>
          <a:lstStyle/>
          <a:p>
            <a:pPr algn="l">
              <a:lnSpc>
                <a:spcPct val="115000"/>
              </a:lnSpc>
            </a:pPr>
            <a:r>
              <a:rPr sz="1250" b="0" i="0">
                <a:solidFill>
                  <a:srgbClr val="E8F4F8"/>
                </a:solidFill>
                <a:latin typeface="Inter"/>
              </a:rPr>
              <a:t>Interstitial continuous glucose monitoring reveals three physiologically coupled tiers:</a:t>
            </a:r>
          </a:p>
        </p:txBody>
      </p:sp>
      <p:sp>
        <p:nvSpPr>
          <p:cNvPr id="10" name="TextBox 9"/>
          <p:cNvSpPr txBox="1"/>
          <p:nvPr/>
        </p:nvSpPr>
        <p:spPr>
          <a:xfrm>
            <a:off x="685800" y="3090672"/>
            <a:ext cx="5029200" cy="2944368"/>
          </a:xfrm>
          <a:prstGeom prst="rect">
            <a:avLst/>
          </a:prstGeom>
          <a:noFill/>
        </p:spPr>
        <p:txBody>
          <a:bodyPr wrap="square" anchor="t" lIns="50800" rIns="50800" tIns="25400" bIns="25400">
            <a:normAutofit/>
          </a:bodyPr>
          <a:lstStyle/>
          <a:p>
            <a:pPr algn="l">
              <a:lnSpc>
                <a:spcPct val="115000"/>
              </a:lnSpc>
              <a:spcAft>
                <a:spcPts val="800"/>
              </a:spcAft>
            </a:pPr>
            <a:r>
              <a:rPr sz="1200">
                <a:solidFill>
                  <a:srgbClr val="4DD9CF"/>
                </a:solidFill>
                <a:latin typeface="Inter"/>
              </a:rPr>
              <a:t>• </a:t>
            </a:r>
            <a:r>
              <a:rPr sz="1200" b="1">
                <a:solidFill>
                  <a:srgbClr val="E8F4F8"/>
                </a:solidFill>
                <a:latin typeface="Inter"/>
              </a:rPr>
              <a:t>Circadian Base (24 h / 0.042 c/h):</a:t>
            </a:r>
            <a:r>
              <a:rPr sz="1200">
                <a:solidFill>
                  <a:srgbClr val="8BA8C4"/>
                </a:solidFill>
                <a:latin typeface="Inter"/>
              </a:rPr>
              <a:t> SCN master clock drives nocturnal hepatic gluconeogenesis and morning dawn phenomenon.</a:t>
            </a:r>
          </a:p>
          <a:p>
            <a:pPr algn="l">
              <a:lnSpc>
                <a:spcPct val="115000"/>
              </a:lnSpc>
              <a:spcAft>
                <a:spcPts val="800"/>
              </a:spcAft>
            </a:pPr>
            <a:r>
              <a:rPr sz="1200">
                <a:solidFill>
                  <a:srgbClr val="4DD9CF"/>
                </a:solidFill>
                <a:latin typeface="Inter"/>
              </a:rPr>
              <a:t>• </a:t>
            </a:r>
            <a:r>
              <a:rPr sz="1200" b="1">
                <a:solidFill>
                  <a:srgbClr val="E8F4F8"/>
                </a:solidFill>
                <a:latin typeface="Inter"/>
              </a:rPr>
              <a:t>Ultradian Pulsatility (1–4 h / 0.25–1.0 c/h):</a:t>
            </a:r>
            <a:r>
              <a:rPr sz="1200">
                <a:solidFill>
                  <a:srgbClr val="8BA8C4"/>
                </a:solidFill>
                <a:latin typeface="Inter"/>
              </a:rPr>
              <a:t> Intrinsic pacemakers driving pulsatile pancreatic insulin secretion.</a:t>
            </a:r>
          </a:p>
          <a:p>
            <a:pPr algn="l">
              <a:lnSpc>
                <a:spcPct val="115000"/>
              </a:lnSpc>
              <a:spcAft>
                <a:spcPts val="800"/>
              </a:spcAft>
            </a:pPr>
            <a:r>
              <a:rPr sz="1200">
                <a:solidFill>
                  <a:srgbClr val="4DD9CF"/>
                </a:solidFill>
                <a:latin typeface="Inter"/>
              </a:rPr>
              <a:t>• </a:t>
            </a:r>
            <a:r>
              <a:rPr sz="1200" b="1">
                <a:solidFill>
                  <a:srgbClr val="E8F4F8"/>
                </a:solidFill>
                <a:latin typeface="Inter"/>
              </a:rPr>
              <a:t>Postprandial Excursions (Meal-related):</a:t>
            </a:r>
            <a:r>
              <a:rPr sz="1200">
                <a:solidFill>
                  <a:srgbClr val="8BA8C4"/>
                </a:solidFill>
                <a:latin typeface="Inter"/>
              </a:rPr>
              <a:t> Acute nutrient absorption spikes modulated by background circadian insulin sensitivity.</a:t>
            </a:r>
          </a:p>
          <a:p>
            <a:pPr algn="l">
              <a:lnSpc>
                <a:spcPct val="115000"/>
              </a:lnSpc>
              <a:spcAft>
                <a:spcPts val="800"/>
              </a:spcAft>
            </a:pPr>
            <a:r>
              <a:rPr sz="1200">
                <a:solidFill>
                  <a:srgbClr val="4DD9CF"/>
                </a:solidFill>
                <a:latin typeface="Inter"/>
              </a:rPr>
              <a:t>• </a:t>
            </a:r>
            <a:r>
              <a:rPr sz="1200" b="1">
                <a:solidFill>
                  <a:srgbClr val="E8F4F8"/>
                </a:solidFill>
                <a:latin typeface="Inter"/>
              </a:rPr>
              <a:t>Consensus Metrics Blind Spot:</a:t>
            </a:r>
            <a:r>
              <a:rPr sz="1200">
                <a:solidFill>
                  <a:srgbClr val="8BA8C4"/>
                </a:solidFill>
                <a:latin typeface="Inter"/>
              </a:rPr>
              <a:t> Two patients with identical 70% TIR and 32% CV can have completely different circadian phase coupling.</a:t>
            </a:r>
          </a:p>
        </p:txBody>
      </p:sp>
      <p:sp>
        <p:nvSpPr>
          <p:cNvPr id="11" name="Rounded Rectangle 10"/>
          <p:cNvSpPr/>
          <p:nvPr/>
        </p:nvSpPr>
        <p:spPr>
          <a:xfrm>
            <a:off x="6248095" y="1691640"/>
            <a:ext cx="5486400" cy="44805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6695" y="1874520"/>
            <a:ext cx="5029200" cy="365760"/>
          </a:xfrm>
          <a:prstGeom prst="rect">
            <a:avLst/>
          </a:prstGeom>
          <a:noFill/>
        </p:spPr>
        <p:txBody>
          <a:bodyPr wrap="square" anchor="t" lIns="50800" rIns="50800" tIns="25400" bIns="25400">
            <a:spAutoFit/>
          </a:bodyPr>
          <a:lstStyle/>
          <a:p>
            <a:pPr algn="l">
              <a:lnSpc>
                <a:spcPct val="115000"/>
              </a:lnSpc>
            </a:pPr>
            <a:r>
              <a:rPr sz="1600" b="1" i="0">
                <a:solidFill>
                  <a:srgbClr val="F4A261"/>
                </a:solidFill>
                <a:latin typeface="Inter"/>
              </a:rPr>
              <a:t>Why HHSA Matters for Brain Aging</a:t>
            </a:r>
          </a:p>
        </p:txBody>
      </p:sp>
      <p:sp>
        <p:nvSpPr>
          <p:cNvPr id="13" name="Rounded Rectangle 12"/>
          <p:cNvSpPr/>
          <p:nvPr/>
        </p:nvSpPr>
        <p:spPr>
          <a:xfrm>
            <a:off x="6476695" y="2313432"/>
            <a:ext cx="5029200" cy="548640"/>
          </a:xfrm>
          <a:prstGeom prst="roundRect">
            <a:avLst>
              <a:gd name="adj" fmla="val 2000"/>
            </a:avLst>
          </a:prstGeom>
          <a:solidFill>
            <a:srgbClr val="162248"/>
          </a:solidFill>
          <a:ln w="1524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HHSA resolves how 24-h circadian rhythms amplitude-modulate meal excursions without discarding non-stationary baseline drifts.</a:t>
            </a:r>
          </a:p>
        </p:txBody>
      </p:sp>
      <p:sp>
        <p:nvSpPr>
          <p:cNvPr id="14" name="TextBox 13"/>
          <p:cNvSpPr txBox="1"/>
          <p:nvPr/>
        </p:nvSpPr>
        <p:spPr>
          <a:xfrm>
            <a:off x="6476695" y="2971800"/>
            <a:ext cx="5029200" cy="731520"/>
          </a:xfrm>
          <a:prstGeom prst="rect">
            <a:avLst/>
          </a:prstGeom>
          <a:noFill/>
        </p:spPr>
        <p:txBody>
          <a:bodyPr wrap="square" anchor="t" lIns="50800" rIns="50800" tIns="25400" bIns="25400">
            <a:spAutoFit/>
          </a:bodyPr>
          <a:lstStyle/>
          <a:p>
            <a:pPr algn="l">
              <a:lnSpc>
                <a:spcPct val="115000"/>
              </a:lnSpc>
            </a:pPr>
            <a:r>
              <a:rPr sz="1250" b="0" i="0">
                <a:solidFill>
                  <a:srgbClr val="E8F4F8"/>
                </a:solidFill>
                <a:latin typeface="Inter"/>
              </a:rPr>
              <a:t>Repeated glycemic excursions induce endothelial oxidative stress, microvascular blood-brain barrier leakage, and accelerated cognitive decline in aging cohorts.</a:t>
            </a:r>
          </a:p>
        </p:txBody>
      </p:sp>
      <p:sp>
        <p:nvSpPr>
          <p:cNvPr id="15" name="TextBox 14"/>
          <p:cNvSpPr txBox="1"/>
          <p:nvPr/>
        </p:nvSpPr>
        <p:spPr>
          <a:xfrm>
            <a:off x="6476695" y="3749040"/>
            <a:ext cx="5029200" cy="2286000"/>
          </a:xfrm>
          <a:prstGeom prst="rect">
            <a:avLst/>
          </a:prstGeom>
          <a:noFill/>
        </p:spPr>
        <p:txBody>
          <a:bodyPr wrap="square" anchor="t" lIns="50800" rIns="50800" tIns="25400" bIns="25400">
            <a:normAutofit/>
          </a:bodyPr>
          <a:lstStyle/>
          <a:p>
            <a:pPr algn="l">
              <a:lnSpc>
                <a:spcPct val="115000"/>
              </a:lnSpc>
              <a:spcAft>
                <a:spcPts val="800"/>
              </a:spcAft>
            </a:pPr>
            <a:r>
              <a:rPr sz="1200">
                <a:solidFill>
                  <a:srgbClr val="4DD9CF"/>
                </a:solidFill>
                <a:latin typeface="Inter"/>
              </a:rPr>
              <a:t>• </a:t>
            </a:r>
            <a:r>
              <a:rPr sz="1200">
                <a:solidFill>
                  <a:srgbClr val="8BA8C4"/>
                </a:solidFill>
                <a:latin typeface="Inter"/>
              </a:rPr>
              <a:t>Provides a dynamic digital biomarker for preclinical neuro-metabolic decline.</a:t>
            </a:r>
          </a:p>
          <a:p>
            <a:pPr algn="l">
              <a:lnSpc>
                <a:spcPct val="115000"/>
              </a:lnSpc>
              <a:spcAft>
                <a:spcPts val="800"/>
              </a:spcAft>
            </a:pPr>
            <a:r>
              <a:rPr sz="1200">
                <a:solidFill>
                  <a:srgbClr val="4DD9CF"/>
                </a:solidFill>
                <a:latin typeface="Inter"/>
              </a:rPr>
              <a:t>• </a:t>
            </a:r>
            <a:r>
              <a:rPr sz="1200">
                <a:solidFill>
                  <a:srgbClr val="8BA8C4"/>
                </a:solidFill>
                <a:latin typeface="Inter"/>
              </a:rPr>
              <a:t>Tracks circadian flattening and ultradian dysregulation before overt HbA1c elevation.</a:t>
            </a:r>
          </a:p>
        </p:txBody>
      </p:sp>
      <p:sp>
        <p:nvSpPr>
          <p:cNvPr id="16" name="TextBox 15"/>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7" name="TextBox 16"/>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12 of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I</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§5 Clinical Demonstration • Empirical Data</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13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Demonstration: Continuous Glucose Monitor (CGM) Cube</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De-identified example (n = 1, shown with consent) • 13.0 days (312 h) • 3,744 samples</a:t>
            </a:r>
          </a:p>
        </p:txBody>
      </p:sp>
      <p:sp>
        <p:nvSpPr>
          <p:cNvPr id="7" name="Rounded Rectangle 6"/>
          <p:cNvSpPr/>
          <p:nvPr/>
        </p:nvSpPr>
        <p:spPr>
          <a:xfrm>
            <a:off x="457200" y="1691640"/>
            <a:ext cx="5394960" cy="23774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01368"/>
            <a:ext cx="502920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Signal Provenance &amp; Authoritative Metrics</a:t>
            </a:r>
          </a:p>
        </p:txBody>
      </p:sp>
      <p:sp>
        <p:nvSpPr>
          <p:cNvPr id="9" name="TextBox 8"/>
          <p:cNvSpPr txBox="1"/>
          <p:nvPr/>
        </p:nvSpPr>
        <p:spPr>
          <a:xfrm>
            <a:off x="640080" y="2130552"/>
            <a:ext cx="5029200" cy="59436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De-identified empirical recording over 13.0 continuous days (312.0 hours):</a:t>
            </a:r>
          </a:p>
        </p:txBody>
      </p:sp>
      <p:sp>
        <p:nvSpPr>
          <p:cNvPr id="10" name="TextBox 9"/>
          <p:cNvSpPr txBox="1"/>
          <p:nvPr/>
        </p:nvSpPr>
        <p:spPr>
          <a:xfrm>
            <a:off x="640080" y="2743200"/>
            <a:ext cx="5029200" cy="123444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b="1">
                <a:solidFill>
                  <a:srgbClr val="E8F4F8"/>
                </a:solidFill>
                <a:latin typeface="Inter"/>
              </a:rPr>
              <a:t>Duration &amp; Sampling:</a:t>
            </a:r>
            <a:r>
              <a:rPr sz="1150">
                <a:solidFill>
                  <a:srgbClr val="8BA8C4"/>
                </a:solidFill>
                <a:latin typeface="Inter"/>
              </a:rPr>
              <a:t> 3,744 samples at 5-min intervals (Nyquist = 6.0 c/h, 10-min period).</a:t>
            </a:r>
          </a:p>
          <a:p>
            <a:pPr algn="l">
              <a:lnSpc>
                <a:spcPct val="115000"/>
              </a:lnSpc>
              <a:spcAft>
                <a:spcPts val="600"/>
              </a:spcAft>
            </a:pPr>
            <a:r>
              <a:rPr sz="1150">
                <a:solidFill>
                  <a:srgbClr val="4DD9CF"/>
                </a:solidFill>
                <a:latin typeface="Inter"/>
              </a:rPr>
              <a:t>• </a:t>
            </a:r>
            <a:r>
              <a:rPr sz="1150" b="1">
                <a:solidFill>
                  <a:srgbClr val="E8F4F8"/>
                </a:solidFill>
                <a:latin typeface="Inter"/>
              </a:rPr>
              <a:t>Summary Statistics:</a:t>
            </a:r>
            <a:r>
              <a:rPr sz="1150">
                <a:solidFill>
                  <a:srgbClr val="8BA8C4"/>
                </a:solidFill>
                <a:latin typeface="Inter"/>
              </a:rPr>
              <a:t> Mean glucose 8.08 mmol/L (145.5 mg/dL), SD 2.97 mmol/L, CV 36.77%.</a:t>
            </a:r>
          </a:p>
          <a:p>
            <a:pPr algn="l">
              <a:lnSpc>
                <a:spcPct val="115000"/>
              </a:lnSpc>
              <a:spcAft>
                <a:spcPts val="600"/>
              </a:spcAft>
            </a:pPr>
            <a:r>
              <a:rPr sz="1150">
                <a:solidFill>
                  <a:srgbClr val="4DD9CF"/>
                </a:solidFill>
                <a:latin typeface="Inter"/>
              </a:rPr>
              <a:t>• </a:t>
            </a:r>
            <a:r>
              <a:rPr sz="1150" b="1">
                <a:solidFill>
                  <a:srgbClr val="E8F4F8"/>
                </a:solidFill>
                <a:latin typeface="Inter"/>
              </a:rPr>
              <a:t>Consensus Distribution:</a:t>
            </a:r>
            <a:r>
              <a:rPr sz="1150">
                <a:solidFill>
                  <a:srgbClr val="8BA8C4"/>
                </a:solidFill>
                <a:latin typeface="Inter"/>
              </a:rPr>
              <a:t> TIR (3.9–10.0 mmol/L): 61.7%; TAR &gt; 10.0 mmol/L: 27.2% (TAR &gt; 13.9: 2.5%); TBR &lt; 3.9 mmol/L: 11.1%; TBR &lt; 3.0: 5.6%.</a:t>
            </a:r>
          </a:p>
        </p:txBody>
      </p:sp>
      <p:sp>
        <p:nvSpPr>
          <p:cNvPr id="11" name="Rounded Rectangle 10"/>
          <p:cNvSpPr/>
          <p:nvPr/>
        </p:nvSpPr>
        <p:spPr>
          <a:xfrm>
            <a:off x="457200" y="4206240"/>
            <a:ext cx="5394960" cy="20574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315968"/>
            <a:ext cx="5029200" cy="320040"/>
          </a:xfrm>
          <a:prstGeom prst="rect">
            <a:avLst/>
          </a:prstGeom>
          <a:noFill/>
        </p:spPr>
        <p:txBody>
          <a:bodyPr wrap="square" anchor="t" lIns="50800" rIns="50800" tIns="25400" bIns="25400">
            <a:spAutoFit/>
          </a:bodyPr>
          <a:lstStyle/>
          <a:p>
            <a:pPr algn="l">
              <a:lnSpc>
                <a:spcPct val="115000"/>
              </a:lnSpc>
            </a:pPr>
            <a:r>
              <a:rPr sz="1400" b="1" i="0">
                <a:solidFill>
                  <a:srgbClr val="4DD9CF"/>
                </a:solidFill>
                <a:latin typeface="Inter"/>
              </a:rPr>
              <a:t>What the 3-D Holo-Hilbert Cube Shows</a:t>
            </a:r>
          </a:p>
        </p:txBody>
      </p:sp>
      <p:sp>
        <p:nvSpPr>
          <p:cNvPr id="13" name="TextBox 12"/>
          <p:cNvSpPr txBox="1"/>
          <p:nvPr/>
        </p:nvSpPr>
        <p:spPr>
          <a:xfrm>
            <a:off x="640080" y="4645152"/>
            <a:ext cx="5029200" cy="59436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Carrier energy: Circadian 28.5%, Ultradian 18.5%, Meal-related 16.3%, Postprandial 23.6%, Fast 13.0%. For Ultradian, Meal-related and Postprandial carriers the strongest AM band is Circadian (72.9%, 49.0%, 33.7%).</a:t>
            </a:r>
          </a:p>
        </p:txBody>
      </p:sp>
      <p:sp>
        <p:nvSpPr>
          <p:cNvPr id="14" name="Rounded Rectangle 13"/>
          <p:cNvSpPr/>
          <p:nvPr/>
        </p:nvSpPr>
        <p:spPr>
          <a:xfrm>
            <a:off x="640080" y="5257800"/>
            <a:ext cx="5029200" cy="548640"/>
          </a:xfrm>
          <a:prstGeom prst="roundRect">
            <a:avLst>
              <a:gd name="adj" fmla="val 2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sz="1250">
                <a:solidFill>
                  <a:srgbClr val="E8F4F8"/>
                </a:solidFill>
                <a:latin typeface="Consolas"/>
              </a:rPr>
              <a:t>Descriptive, n = 1. 19.8% of energy sits at f_AM ≥ f_c and must be masked.</a:t>
            </a:r>
          </a:p>
        </p:txBody>
      </p:sp>
      <p:sp>
        <p:nvSpPr>
          <p:cNvPr id="15" name="Rounded Rectangle 14"/>
          <p:cNvSpPr/>
          <p:nvPr/>
        </p:nvSpPr>
        <p:spPr>
          <a:xfrm>
            <a:off x="6108192" y="1691640"/>
            <a:ext cx="5623560" cy="457200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5_cgm_cube_projections.png"/>
          <p:cNvPicPr>
            <a:picLocks noChangeAspect="1"/>
          </p:cNvPicPr>
          <p:nvPr/>
        </p:nvPicPr>
        <p:blipFill>
          <a:blip r:embed="rId2"/>
          <a:stretch>
            <a:fillRect/>
          </a:stretch>
        </p:blipFill>
        <p:spPr>
          <a:xfrm>
            <a:off x="6291072" y="2961780"/>
            <a:ext cx="5257800" cy="1757398"/>
          </a:xfrm>
          <a:prstGeom prst="rect">
            <a:avLst/>
          </a:prstGeom>
        </p:spPr>
      </p:pic>
      <p:sp>
        <p:nvSpPr>
          <p:cNvPr id="17" name="TextBox 16"/>
          <p:cNvSpPr txBox="1"/>
          <p:nvPr/>
        </p:nvSpPr>
        <p:spPr>
          <a:xfrm>
            <a:off x="6291072" y="4769979"/>
            <a:ext cx="5257800" cy="274320"/>
          </a:xfrm>
          <a:prstGeom prst="rect">
            <a:avLst/>
          </a:prstGeom>
          <a:noFill/>
        </p:spPr>
        <p:txBody>
          <a:bodyPr wrap="square" anchor="t" lIns="50800" rIns="50800" tIns="25400" bIns="25400">
            <a:spAutoFit/>
          </a:bodyPr>
          <a:lstStyle/>
          <a:p>
            <a:pPr algn="ctr">
              <a:lnSpc>
                <a:spcPct val="115000"/>
              </a:lnSpc>
            </a:pPr>
            <a:r>
              <a:rPr sz="950" b="0" i="0">
                <a:solidFill>
                  <a:srgbClr val="4A6580"/>
                </a:solidFill>
                <a:latin typeface="Consolas"/>
              </a:rPr>
              <a:t>Figure F5: CGM 3-D Holo-Hilbert cube and its three marginal projections S(t,f), C(fc,fam), M(t,fam).</a:t>
            </a:r>
          </a:p>
        </p:txBody>
      </p:sp>
      <p:sp>
        <p:nvSpPr>
          <p:cNvPr id="18" name="TextBox 17"/>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9" name="TextBox 18"/>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13 of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I</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§5 Wearable Demonstration • Empirical Wearable Data</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14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Demonstration: Wearable Garmin HRV Cubes (Sessions A &amp; B)</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Two real ~7-min wearable sessions • 50 Hz beat recovery • VLF (&lt; 3/T) greyed out</a:t>
            </a:r>
          </a:p>
        </p:txBody>
      </p:sp>
      <p:graphicFrame>
        <p:nvGraphicFramePr>
          <p:cNvPr id="7" name="Table 6"/>
          <p:cNvGraphicFramePr>
            <a:graphicFrameLocks noGrp="1"/>
          </p:cNvGraphicFramePr>
          <p:nvPr/>
        </p:nvGraphicFramePr>
        <p:xfrm>
          <a:off x="457200" y="1691640"/>
          <a:ext cx="5669280" cy="3383280"/>
        </p:xfrm>
        <a:graphic>
          <a:graphicData uri="http://schemas.openxmlformats.org/drawingml/2006/table">
            <a:tbl>
              <a:tblPr firstRow="1" bandRow="1">
                <a:tableStyleId>{5C22544A-7EE6-4342-B048-85BDC9FD1C3A}</a:tableStyleId>
              </a:tblPr>
              <a:tblGrid>
                <a:gridCol w="1645920"/>
                <a:gridCol w="1371600"/>
                <a:gridCol w="1371600"/>
                <a:gridCol w="1280160"/>
              </a:tblGrid>
              <a:tr h="422910">
                <a:tc>
                  <a:txBody>
                    <a:bodyPr/>
                    <a:lstStyle/>
                    <a:p>
                      <a:pPr algn="l"/>
                      <a:r>
                        <a:rPr b="1" sz="1050">
                          <a:solidFill>
                            <a:srgbClr val="4DD9CF"/>
                          </a:solidFill>
                          <a:latin typeface="Inter"/>
                        </a:rPr>
                        <a:t>Metric</a:t>
                      </a:r>
                    </a:p>
                  </a:txBody>
                  <a:tcPr marL="76200" marR="76200" marT="50800" marB="50800">
                    <a:solidFill>
                      <a:srgbClr val="162248"/>
                    </a:solidFill>
                  </a:tcPr>
                </a:tc>
                <a:tc>
                  <a:txBody>
                    <a:bodyPr/>
                    <a:lstStyle/>
                    <a:p>
                      <a:pPr algn="l"/>
                      <a:r>
                        <a:rPr b="1" sz="1050">
                          <a:solidFill>
                            <a:srgbClr val="4DD9CF"/>
                          </a:solidFill>
                          <a:latin typeface="Inter"/>
                        </a:rPr>
                        <a:t>HRV Session A</a:t>
                      </a:r>
                    </a:p>
                  </a:txBody>
                  <a:tcPr marL="76200" marR="76200" marT="50800" marB="50800">
                    <a:solidFill>
                      <a:srgbClr val="162248"/>
                    </a:solidFill>
                  </a:tcPr>
                </a:tc>
                <a:tc>
                  <a:txBody>
                    <a:bodyPr/>
                    <a:lstStyle/>
                    <a:p>
                      <a:pPr algn="l"/>
                      <a:r>
                        <a:rPr b="1" sz="1050">
                          <a:solidFill>
                            <a:srgbClr val="4DD9CF"/>
                          </a:solidFill>
                          <a:latin typeface="Inter"/>
                        </a:rPr>
                        <a:t>HRV Session B</a:t>
                      </a:r>
                    </a:p>
                  </a:txBody>
                  <a:tcPr marL="76200" marR="76200" marT="50800" marB="50800">
                    <a:solidFill>
                      <a:srgbClr val="162248"/>
                    </a:solidFill>
                  </a:tcPr>
                </a:tc>
                <a:tc>
                  <a:txBody>
                    <a:bodyPr/>
                    <a:lstStyle/>
                    <a:p>
                      <a:pPr algn="l"/>
                      <a:r>
                        <a:rPr b="1" sz="1050">
                          <a:solidFill>
                            <a:srgbClr val="4DD9CF"/>
                          </a:solidFill>
                          <a:latin typeface="Inter"/>
                        </a:rPr>
                        <a:t>QC Target</a:t>
                      </a:r>
                    </a:p>
                  </a:txBody>
                  <a:tcPr marL="76200" marR="76200" marT="50800" marB="50800">
                    <a:solidFill>
                      <a:srgbClr val="162248"/>
                    </a:solidFill>
                  </a:tcPr>
                </a:tc>
              </a:tr>
              <a:tr h="422910">
                <a:tc>
                  <a:txBody>
                    <a:bodyPr/>
                    <a:lstStyle/>
                    <a:p>
                      <a:pPr algn="l"/>
                      <a:r>
                        <a:rPr sz="1000" b="1">
                          <a:solidFill>
                            <a:srgbClr val="E8F4F8"/>
                          </a:solidFill>
                          <a:latin typeface="Inter"/>
                        </a:rPr>
                        <a:t>Duration / Samples</a:t>
                      </a:r>
                    </a:p>
                  </a:txBody>
                  <a:tcPr marL="76200" marR="76200" marT="50800" marB="50800">
                    <a:solidFill>
                      <a:srgbClr val="111D3C"/>
                    </a:solidFill>
                  </a:tcPr>
                </a:tc>
                <a:tc>
                  <a:txBody>
                    <a:bodyPr/>
                    <a:lstStyle/>
                    <a:p>
                      <a:pPr algn="l"/>
                      <a:r>
                        <a:rPr sz="1000">
                          <a:solidFill>
                            <a:srgbClr val="8BA8C4"/>
                          </a:solidFill>
                          <a:latin typeface="Inter"/>
                        </a:rPr>
                        <a:t>424.5 s / 21,224</a:t>
                      </a:r>
                    </a:p>
                  </a:txBody>
                  <a:tcPr marL="76200" marR="76200" marT="50800" marB="50800">
                    <a:solidFill>
                      <a:srgbClr val="111D3C"/>
                    </a:solidFill>
                  </a:tcPr>
                </a:tc>
                <a:tc>
                  <a:txBody>
                    <a:bodyPr/>
                    <a:lstStyle/>
                    <a:p>
                      <a:pPr algn="l"/>
                      <a:r>
                        <a:rPr sz="1000">
                          <a:solidFill>
                            <a:srgbClr val="8BA8C4"/>
                          </a:solidFill>
                          <a:latin typeface="Inter"/>
                        </a:rPr>
                        <a:t>444.6 s / 22,233</a:t>
                      </a:r>
                    </a:p>
                  </a:txBody>
                  <a:tcPr marL="76200" marR="76200" marT="50800" marB="50800">
                    <a:solidFill>
                      <a:srgbClr val="111D3C"/>
                    </a:solidFill>
                  </a:tcPr>
                </a:tc>
                <a:tc>
                  <a:txBody>
                    <a:bodyPr/>
                    <a:lstStyle/>
                    <a:p>
                      <a:pPr algn="l"/>
                      <a:r>
                        <a:rPr sz="1000">
                          <a:solidFill>
                            <a:srgbClr val="8BA8C4"/>
                          </a:solidFill>
                          <a:latin typeface="Inter"/>
                        </a:rPr>
                        <a:t>~7 minutes</a:t>
                      </a:r>
                    </a:p>
                  </a:txBody>
                  <a:tcPr marL="76200" marR="76200" marT="50800" marB="50800">
                    <a:solidFill>
                      <a:srgbClr val="111D3C"/>
                    </a:solidFill>
                  </a:tcPr>
                </a:tc>
              </a:tr>
              <a:tr h="422910">
                <a:tc>
                  <a:txBody>
                    <a:bodyPr/>
                    <a:lstStyle/>
                    <a:p>
                      <a:pPr algn="l"/>
                      <a:r>
                        <a:rPr sz="1000" b="1">
                          <a:solidFill>
                            <a:srgbClr val="E8F4F8"/>
                          </a:solidFill>
                          <a:latin typeface="Inter"/>
                        </a:rPr>
                        <a:t>Recovered Beats</a:t>
                      </a:r>
                    </a:p>
                  </a:txBody>
                  <a:tcPr marL="76200" marR="76200" marT="50800" marB="50800">
                    <a:solidFill>
                      <a:srgbClr val="162248"/>
                    </a:solidFill>
                  </a:tcPr>
                </a:tc>
                <a:tc>
                  <a:txBody>
                    <a:bodyPr/>
                    <a:lstStyle/>
                    <a:p>
                      <a:pPr algn="l"/>
                      <a:r>
                        <a:rPr sz="1000">
                          <a:solidFill>
                            <a:srgbClr val="8BA8C4"/>
                          </a:solidFill>
                          <a:latin typeface="Inter"/>
                        </a:rPr>
                        <a:t>718 beats</a:t>
                      </a:r>
                    </a:p>
                  </a:txBody>
                  <a:tcPr marL="76200" marR="76200" marT="50800" marB="50800">
                    <a:solidFill>
                      <a:srgbClr val="162248"/>
                    </a:solidFill>
                  </a:tcPr>
                </a:tc>
                <a:tc>
                  <a:txBody>
                    <a:bodyPr/>
                    <a:lstStyle/>
                    <a:p>
                      <a:pPr algn="l"/>
                      <a:r>
                        <a:rPr sz="1000">
                          <a:solidFill>
                            <a:srgbClr val="8BA8C4"/>
                          </a:solidFill>
                          <a:latin typeface="Inter"/>
                        </a:rPr>
                        <a:t>694 beats</a:t>
                      </a:r>
                    </a:p>
                  </a:txBody>
                  <a:tcPr marL="76200" marR="76200" marT="50800" marB="50800">
                    <a:solidFill>
                      <a:srgbClr val="162248"/>
                    </a:solidFill>
                  </a:tcPr>
                </a:tc>
                <a:tc>
                  <a:txBody>
                    <a:bodyPr/>
                    <a:lstStyle/>
                    <a:p>
                      <a:pPr algn="l"/>
                      <a:r>
                        <a:rPr sz="1000">
                          <a:solidFill>
                            <a:srgbClr val="8BA8C4"/>
                          </a:solidFill>
                          <a:latin typeface="Inter"/>
                        </a:rPr>
                        <a:t>Within ±2% expected</a:t>
                      </a:r>
                    </a:p>
                  </a:txBody>
                  <a:tcPr marL="76200" marR="76200" marT="50800" marB="50800">
                    <a:solidFill>
                      <a:srgbClr val="162248"/>
                    </a:solidFill>
                  </a:tcPr>
                </a:tc>
              </a:tr>
              <a:tr h="422910">
                <a:tc>
                  <a:txBody>
                    <a:bodyPr/>
                    <a:lstStyle/>
                    <a:p>
                      <a:pPr algn="l"/>
                      <a:r>
                        <a:rPr sz="1000" b="1">
                          <a:solidFill>
                            <a:srgbClr val="E8F4F8"/>
                          </a:solidFill>
                          <a:latin typeface="Inter"/>
                        </a:rPr>
                        <a:t>Count Error %</a:t>
                      </a:r>
                    </a:p>
                  </a:txBody>
                  <a:tcPr marL="76200" marR="76200" marT="50800" marB="50800">
                    <a:solidFill>
                      <a:srgbClr val="111D3C"/>
                    </a:solidFill>
                  </a:tcPr>
                </a:tc>
                <a:tc>
                  <a:txBody>
                    <a:bodyPr/>
                    <a:lstStyle/>
                    <a:p>
                      <a:pPr algn="l"/>
                      <a:r>
                        <a:rPr sz="1000">
                          <a:solidFill>
                            <a:srgbClr val="8BA8C4"/>
                          </a:solidFill>
                          <a:latin typeface="Inter"/>
                        </a:rPr>
                        <a:t>0.51%</a:t>
                      </a:r>
                    </a:p>
                  </a:txBody>
                  <a:tcPr marL="76200" marR="76200" marT="50800" marB="50800">
                    <a:solidFill>
                      <a:srgbClr val="111D3C"/>
                    </a:solidFill>
                  </a:tcPr>
                </a:tc>
                <a:tc>
                  <a:txBody>
                    <a:bodyPr/>
                    <a:lstStyle/>
                    <a:p>
                      <a:pPr algn="l"/>
                      <a:r>
                        <a:rPr sz="1000">
                          <a:solidFill>
                            <a:srgbClr val="8BA8C4"/>
                          </a:solidFill>
                          <a:latin typeface="Inter"/>
                        </a:rPr>
                        <a:t>0.37%</a:t>
                      </a:r>
                    </a:p>
                  </a:txBody>
                  <a:tcPr marL="76200" marR="76200" marT="50800" marB="50800">
                    <a:solidFill>
                      <a:srgbClr val="111D3C"/>
                    </a:solidFill>
                  </a:tcPr>
                </a:tc>
                <a:tc>
                  <a:txBody>
                    <a:bodyPr/>
                    <a:lstStyle/>
                    <a:p>
                      <a:pPr algn="l"/>
                      <a:r>
                        <a:rPr sz="1000">
                          <a:solidFill>
                            <a:srgbClr val="8BA8C4"/>
                          </a:solidFill>
                          <a:latin typeface="Inter"/>
                        </a:rPr>
                        <a:t>&lt;= 2.0% (PASS)</a:t>
                      </a:r>
                    </a:p>
                  </a:txBody>
                  <a:tcPr marL="76200" marR="76200" marT="50800" marB="50800">
                    <a:solidFill>
                      <a:srgbClr val="111D3C"/>
                    </a:solidFill>
                  </a:tcPr>
                </a:tc>
              </a:tr>
              <a:tr h="422910">
                <a:tc>
                  <a:txBody>
                    <a:bodyPr/>
                    <a:lstStyle/>
                    <a:p>
                      <a:pPr algn="l"/>
                      <a:r>
                        <a:rPr sz="1000" b="1">
                          <a:solidFill>
                            <a:srgbClr val="E8F4F8"/>
                          </a:solidFill>
                          <a:latin typeface="Inter"/>
                        </a:rPr>
                        <a:t>MeanNN / Median HR</a:t>
                      </a:r>
                    </a:p>
                  </a:txBody>
                  <a:tcPr marL="76200" marR="76200" marT="50800" marB="50800">
                    <a:solidFill>
                      <a:srgbClr val="162248"/>
                    </a:solidFill>
                  </a:tcPr>
                </a:tc>
                <a:tc>
                  <a:txBody>
                    <a:bodyPr/>
                    <a:lstStyle/>
                    <a:p>
                      <a:pPr algn="l"/>
                      <a:r>
                        <a:rPr sz="1000">
                          <a:solidFill>
                            <a:srgbClr val="8BA8C4"/>
                          </a:solidFill>
                          <a:latin typeface="Inter"/>
                        </a:rPr>
                        <a:t>591.0 ms / 102 bpm</a:t>
                      </a:r>
                    </a:p>
                  </a:txBody>
                  <a:tcPr marL="76200" marR="76200" marT="50800" marB="50800">
                    <a:solidFill>
                      <a:srgbClr val="162248"/>
                    </a:solidFill>
                  </a:tcPr>
                </a:tc>
                <a:tc>
                  <a:txBody>
                    <a:bodyPr/>
                    <a:lstStyle/>
                    <a:p>
                      <a:pPr algn="l"/>
                      <a:r>
                        <a:rPr sz="1000">
                          <a:solidFill>
                            <a:srgbClr val="8BA8C4"/>
                          </a:solidFill>
                          <a:latin typeface="Inter"/>
                        </a:rPr>
                        <a:t>640.7 ms / 94 bpm</a:t>
                      </a:r>
                    </a:p>
                  </a:txBody>
                  <a:tcPr marL="76200" marR="76200" marT="50800" marB="50800">
                    <a:solidFill>
                      <a:srgbClr val="162248"/>
                    </a:solidFill>
                  </a:tcPr>
                </a:tc>
                <a:tc>
                  <a:txBody>
                    <a:bodyPr/>
                    <a:lstStyle/>
                    <a:p>
                      <a:pPr algn="l"/>
                      <a:r>
                        <a:rPr sz="1000">
                          <a:solidFill>
                            <a:srgbClr val="8BA8C4"/>
                          </a:solidFill>
                          <a:latin typeface="Inter"/>
                        </a:rPr>
                        <a:t>Standard resting</a:t>
                      </a:r>
                    </a:p>
                  </a:txBody>
                  <a:tcPr marL="76200" marR="76200" marT="50800" marB="50800">
                    <a:solidFill>
                      <a:srgbClr val="162248"/>
                    </a:solidFill>
                  </a:tcPr>
                </a:tc>
              </a:tr>
              <a:tr h="422910">
                <a:tc>
                  <a:txBody>
                    <a:bodyPr/>
                    <a:lstStyle/>
                    <a:p>
                      <a:pPr algn="l"/>
                      <a:r>
                        <a:rPr sz="1000" b="1">
                          <a:solidFill>
                            <a:srgbClr val="E8F4F8"/>
                          </a:solidFill>
                          <a:latin typeface="Inter"/>
                        </a:rPr>
                        <a:t>RMSSD / SDNN</a:t>
                      </a:r>
                    </a:p>
                  </a:txBody>
                  <a:tcPr marL="76200" marR="76200" marT="50800" marB="50800">
                    <a:solidFill>
                      <a:srgbClr val="111D3C"/>
                    </a:solidFill>
                  </a:tcPr>
                </a:tc>
                <a:tc>
                  <a:txBody>
                    <a:bodyPr/>
                    <a:lstStyle/>
                    <a:p>
                      <a:pPr algn="l"/>
                      <a:r>
                        <a:rPr sz="1000">
                          <a:solidFill>
                            <a:srgbClr val="8BA8C4"/>
                          </a:solidFill>
                          <a:latin typeface="Inter"/>
                        </a:rPr>
                        <a:t>18.3 ms / 36.6 ms</a:t>
                      </a:r>
                    </a:p>
                  </a:txBody>
                  <a:tcPr marL="76200" marR="76200" marT="50800" marB="50800">
                    <a:solidFill>
                      <a:srgbClr val="111D3C"/>
                    </a:solidFill>
                  </a:tcPr>
                </a:tc>
                <a:tc>
                  <a:txBody>
                    <a:bodyPr/>
                    <a:lstStyle/>
                    <a:p>
                      <a:pPr algn="l"/>
                      <a:r>
                        <a:rPr sz="1000">
                          <a:solidFill>
                            <a:srgbClr val="8BA8C4"/>
                          </a:solidFill>
                          <a:latin typeface="Inter"/>
                        </a:rPr>
                        <a:t>16.5 ms / 34.8 ms</a:t>
                      </a:r>
                    </a:p>
                  </a:txBody>
                  <a:tcPr marL="76200" marR="76200" marT="50800" marB="50800">
                    <a:solidFill>
                      <a:srgbClr val="111D3C"/>
                    </a:solidFill>
                  </a:tcPr>
                </a:tc>
                <a:tc>
                  <a:txBody>
                    <a:bodyPr/>
                    <a:lstStyle/>
                    <a:p>
                      <a:pPr algn="l"/>
                      <a:r>
                        <a:rPr sz="1000">
                          <a:solidFill>
                            <a:srgbClr val="8BA8C4"/>
                          </a:solidFill>
                          <a:latin typeface="Inter"/>
                        </a:rPr>
                        <a:t>Same-method only</a:t>
                      </a:r>
                    </a:p>
                  </a:txBody>
                  <a:tcPr marL="76200" marR="76200" marT="50800" marB="50800">
                    <a:solidFill>
                      <a:srgbClr val="111D3C"/>
                    </a:solidFill>
                  </a:tcPr>
                </a:tc>
              </a:tr>
              <a:tr h="422910">
                <a:tc>
                  <a:txBody>
                    <a:bodyPr/>
                    <a:lstStyle/>
                    <a:p>
                      <a:pPr algn="l"/>
                      <a:r>
                        <a:rPr sz="1000" b="1">
                          <a:solidFill>
                            <a:srgbClr val="E8F4F8"/>
                          </a:solidFill>
                          <a:latin typeface="Inter"/>
                        </a:rPr>
                        <a:t>pNN50 %</a:t>
                      </a:r>
                    </a:p>
                  </a:txBody>
                  <a:tcPr marL="76200" marR="76200" marT="50800" marB="50800">
                    <a:solidFill>
                      <a:srgbClr val="162248"/>
                    </a:solidFill>
                  </a:tcPr>
                </a:tc>
                <a:tc>
                  <a:txBody>
                    <a:bodyPr/>
                    <a:lstStyle/>
                    <a:p>
                      <a:pPr algn="l"/>
                      <a:r>
                        <a:rPr sz="1000">
                          <a:solidFill>
                            <a:srgbClr val="8BA8C4"/>
                          </a:solidFill>
                          <a:latin typeface="Inter"/>
                        </a:rPr>
                        <a:t>1.54%</a:t>
                      </a:r>
                    </a:p>
                  </a:txBody>
                  <a:tcPr marL="76200" marR="76200" marT="50800" marB="50800">
                    <a:solidFill>
                      <a:srgbClr val="162248"/>
                    </a:solidFill>
                  </a:tcPr>
                </a:tc>
                <a:tc>
                  <a:txBody>
                    <a:bodyPr/>
                    <a:lstStyle/>
                    <a:p>
                      <a:pPr algn="l"/>
                      <a:r>
                        <a:rPr sz="1000">
                          <a:solidFill>
                            <a:srgbClr val="8BA8C4"/>
                          </a:solidFill>
                          <a:latin typeface="Inter"/>
                        </a:rPr>
                        <a:t>0.43%</a:t>
                      </a:r>
                    </a:p>
                  </a:txBody>
                  <a:tcPr marL="76200" marR="76200" marT="50800" marB="50800">
                    <a:solidFill>
                      <a:srgbClr val="162248"/>
                    </a:solidFill>
                  </a:tcPr>
                </a:tc>
                <a:tc>
                  <a:txBody>
                    <a:bodyPr/>
                    <a:lstStyle/>
                    <a:p>
                      <a:pPr algn="l"/>
                      <a:r>
                        <a:rPr sz="1000">
                          <a:solidFill>
                            <a:srgbClr val="8BA8C4"/>
                          </a:solidFill>
                          <a:latin typeface="Inter"/>
                        </a:rPr>
                        <a:t>Beat variance</a:t>
                      </a:r>
                    </a:p>
                  </a:txBody>
                  <a:tcPr marL="76200" marR="76200" marT="50800" marB="50800">
                    <a:solidFill>
                      <a:srgbClr val="162248"/>
                    </a:solidFill>
                  </a:tcPr>
                </a:tc>
              </a:tr>
              <a:tr h="422910">
                <a:tc>
                  <a:txBody>
                    <a:bodyPr/>
                    <a:lstStyle/>
                    <a:p>
                      <a:pPr algn="l"/>
                      <a:r>
                        <a:rPr sz="1000" b="1">
                          <a:solidFill>
                            <a:srgbClr val="E8F4F8"/>
                          </a:solidFill>
                          <a:latin typeface="Inter"/>
                        </a:rPr>
                        <a:t>3/T Cutoff (Greyed)</a:t>
                      </a:r>
                    </a:p>
                  </a:txBody>
                  <a:tcPr marL="76200" marR="76200" marT="50800" marB="50800">
                    <a:solidFill>
                      <a:srgbClr val="111D3C"/>
                    </a:solidFill>
                  </a:tcPr>
                </a:tc>
                <a:tc>
                  <a:txBody>
                    <a:bodyPr/>
                    <a:lstStyle/>
                    <a:p>
                      <a:pPr algn="l"/>
                      <a:r>
                        <a:rPr sz="1000">
                          <a:solidFill>
                            <a:srgbClr val="8BA8C4"/>
                          </a:solidFill>
                          <a:latin typeface="Inter"/>
                        </a:rPr>
                        <a:t>0.00707 Hz</a:t>
                      </a:r>
                    </a:p>
                  </a:txBody>
                  <a:tcPr marL="76200" marR="76200" marT="50800" marB="50800">
                    <a:solidFill>
                      <a:srgbClr val="111D3C"/>
                    </a:solidFill>
                  </a:tcPr>
                </a:tc>
                <a:tc>
                  <a:txBody>
                    <a:bodyPr/>
                    <a:lstStyle/>
                    <a:p>
                      <a:pPr algn="l"/>
                      <a:r>
                        <a:rPr sz="1000">
                          <a:solidFill>
                            <a:srgbClr val="8BA8C4"/>
                          </a:solidFill>
                          <a:latin typeface="Inter"/>
                        </a:rPr>
                        <a:t>0.00675 Hz</a:t>
                      </a:r>
                    </a:p>
                  </a:txBody>
                  <a:tcPr marL="76200" marR="76200" marT="50800" marB="50800">
                    <a:solidFill>
                      <a:srgbClr val="111D3C"/>
                    </a:solidFill>
                  </a:tcPr>
                </a:tc>
                <a:tc>
                  <a:txBody>
                    <a:bodyPr/>
                    <a:lstStyle/>
                    <a:p>
                      <a:pPr algn="l"/>
                      <a:r>
                        <a:rPr sz="1000">
                          <a:solidFill>
                            <a:srgbClr val="8BA8C4"/>
                          </a:solidFill>
                          <a:latin typeface="Inter"/>
                        </a:rPr>
                        <a:t>Unresolvable VLF</a:t>
                      </a:r>
                    </a:p>
                  </a:txBody>
                  <a:tcPr marL="76200" marR="76200" marT="50800" marB="50800">
                    <a:solidFill>
                      <a:srgbClr val="111D3C"/>
                    </a:solidFill>
                  </a:tcPr>
                </a:tc>
              </a:tr>
            </a:tbl>
          </a:graphicData>
        </a:graphic>
      </p:graphicFrame>
      <p:sp>
        <p:nvSpPr>
          <p:cNvPr id="8" name="Rounded Rectangle 7"/>
          <p:cNvSpPr/>
          <p:nvPr/>
        </p:nvSpPr>
        <p:spPr>
          <a:xfrm>
            <a:off x="457200" y="5212080"/>
            <a:ext cx="5577840" cy="960120"/>
          </a:xfrm>
          <a:prstGeom prst="roundRect">
            <a:avLst>
              <a:gd name="adj" fmla="val 3000"/>
            </a:avLst>
          </a:prstGeom>
          <a:solidFill>
            <a:srgbClr val="162248"/>
          </a:solidFill>
          <a:ln w="9525">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303520"/>
            <a:ext cx="5212080" cy="777240"/>
          </a:xfrm>
          <a:prstGeom prst="rect">
            <a:avLst/>
          </a:prstGeom>
          <a:noFill/>
        </p:spPr>
        <p:txBody>
          <a:bodyPr wrap="square" anchor="t" lIns="50800" rIns="50800" tIns="25400" bIns="25400">
            <a:spAutoFit/>
          </a:bodyPr>
          <a:lstStyle/>
          <a:p>
            <a:pPr algn="l">
              <a:lnSpc>
                <a:spcPct val="115000"/>
              </a:lnSpc>
            </a:pPr>
            <a:r>
              <a:rPr sz="1150" b="0" i="0">
                <a:solidFill>
                  <a:srgbClr val="E8F4F8"/>
                </a:solidFill>
                <a:latin typeface="Inter"/>
              </a:rPr>
              <a:t>Methodological Discipline: Bins below 3/T Hz are grey-hatched in both cubes, preventing over-interpretation of VLF power from short 7-minute snapshots. Carrier energy is LF-dominant (43.8% / 47.5%), HF second (30.4% / 25.3%).</a:t>
            </a:r>
          </a:p>
        </p:txBody>
      </p:sp>
      <p:sp>
        <p:nvSpPr>
          <p:cNvPr id="10" name="Rounded Rectangle 9"/>
          <p:cNvSpPr/>
          <p:nvPr/>
        </p:nvSpPr>
        <p:spPr>
          <a:xfrm>
            <a:off x="6291072" y="1691640"/>
            <a:ext cx="5440680" cy="44805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6_garmin_hrv_sessions.png"/>
          <p:cNvPicPr>
            <a:picLocks noChangeAspect="1"/>
          </p:cNvPicPr>
          <p:nvPr/>
        </p:nvPicPr>
        <p:blipFill>
          <a:blip r:embed="rId2"/>
          <a:stretch>
            <a:fillRect/>
          </a:stretch>
        </p:blipFill>
        <p:spPr>
          <a:xfrm>
            <a:off x="6473952" y="2755529"/>
            <a:ext cx="5074920" cy="2078460"/>
          </a:xfrm>
          <a:prstGeom prst="rect">
            <a:avLst/>
          </a:prstGeom>
        </p:spPr>
      </p:pic>
      <p:sp>
        <p:nvSpPr>
          <p:cNvPr id="12" name="TextBox 11"/>
          <p:cNvSpPr txBox="1"/>
          <p:nvPr/>
        </p:nvSpPr>
        <p:spPr>
          <a:xfrm>
            <a:off x="6473952" y="4884790"/>
            <a:ext cx="5074920" cy="274320"/>
          </a:xfrm>
          <a:prstGeom prst="rect">
            <a:avLst/>
          </a:prstGeom>
          <a:noFill/>
        </p:spPr>
        <p:txBody>
          <a:bodyPr wrap="square" anchor="t" lIns="50800" rIns="50800" tIns="25400" bIns="25400">
            <a:spAutoFit/>
          </a:bodyPr>
          <a:lstStyle/>
          <a:p>
            <a:pPr algn="ctr">
              <a:lnSpc>
                <a:spcPct val="115000"/>
              </a:lnSpc>
            </a:pPr>
            <a:r>
              <a:rPr sz="950" b="0" i="0">
                <a:solidFill>
                  <a:srgbClr val="4A6580"/>
                </a:solidFill>
                <a:latin typeface="Consolas"/>
              </a:rPr>
              <a:t>Figure F6: Garmin wearable HRV cubes (Sessions A and B) with 3/T greyed unresolvable zones.</a:t>
            </a:r>
          </a:p>
        </p:txBody>
      </p:sp>
      <p:sp>
        <p:nvSpPr>
          <p:cNvPr id="13" name="TextBox 12"/>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4" name="TextBox 13"/>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14 of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I</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§4.4 Cross-System Dynamics • Hypothesis Formulation</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15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Across Systems: Inter-Organ Coupling Hypotheses</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Network physiology, Amplitude-Carrier Cross-Frequency Coupling (ACFC), &amp; SWR-glucose</a:t>
            </a:r>
          </a:p>
        </p:txBody>
      </p:sp>
      <p:sp>
        <p:nvSpPr>
          <p:cNvPr id="7" name="Rounded Rectangle 6"/>
          <p:cNvSpPr/>
          <p:nvPr/>
        </p:nvSpPr>
        <p:spPr>
          <a:xfrm>
            <a:off x="457200" y="1691640"/>
            <a:ext cx="5486400" cy="347472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74520"/>
            <a:ext cx="5029200" cy="365760"/>
          </a:xfrm>
          <a:prstGeom prst="rect">
            <a:avLst/>
          </a:prstGeom>
          <a:noFill/>
        </p:spPr>
        <p:txBody>
          <a:bodyPr wrap="square" anchor="t" lIns="50800" rIns="50800" tIns="25400" bIns="25400">
            <a:spAutoFit/>
          </a:bodyPr>
          <a:lstStyle/>
          <a:p>
            <a:pPr algn="l">
              <a:lnSpc>
                <a:spcPct val="115000"/>
              </a:lnSpc>
            </a:pPr>
            <a:r>
              <a:rPr sz="1600" b="1" i="0">
                <a:solidFill>
                  <a:srgbClr val="4DD9CF"/>
                </a:solidFill>
                <a:latin typeface="Inter"/>
              </a:rPr>
              <a:t>🌐 Network Physiology &amp; ACFC</a:t>
            </a:r>
          </a:p>
        </p:txBody>
      </p:sp>
      <p:sp>
        <p:nvSpPr>
          <p:cNvPr id="9" name="TextBox 8"/>
          <p:cNvSpPr txBox="1"/>
          <p:nvPr/>
        </p:nvSpPr>
        <p:spPr>
          <a:xfrm>
            <a:off x="685800" y="2313432"/>
            <a:ext cx="5029200" cy="731520"/>
          </a:xfrm>
          <a:prstGeom prst="rect">
            <a:avLst/>
          </a:prstGeom>
          <a:noFill/>
        </p:spPr>
        <p:txBody>
          <a:bodyPr wrap="square" anchor="t" lIns="50800" rIns="50800" tIns="25400" bIns="25400">
            <a:spAutoFit/>
          </a:bodyPr>
          <a:lstStyle/>
          <a:p>
            <a:pPr algn="l">
              <a:lnSpc>
                <a:spcPct val="115000"/>
              </a:lnSpc>
            </a:pPr>
            <a:r>
              <a:rPr sz="1250" b="0" i="0">
                <a:solidFill>
                  <a:srgbClr val="E8F4F8"/>
                </a:solidFill>
                <a:latin typeface="Inter"/>
              </a:rPr>
              <a:t>Organs communicate not via isolated firing rates, but through coordinated cross-frequency coupling across anatomical boundaries.</a:t>
            </a:r>
          </a:p>
        </p:txBody>
      </p:sp>
      <p:sp>
        <p:nvSpPr>
          <p:cNvPr id="10" name="TextBox 9"/>
          <p:cNvSpPr txBox="1"/>
          <p:nvPr/>
        </p:nvSpPr>
        <p:spPr>
          <a:xfrm>
            <a:off x="685800" y="3090672"/>
            <a:ext cx="5029200" cy="1938528"/>
          </a:xfrm>
          <a:prstGeom prst="rect">
            <a:avLst/>
          </a:prstGeom>
          <a:noFill/>
        </p:spPr>
        <p:txBody>
          <a:bodyPr wrap="square" anchor="t" lIns="50800" rIns="50800" tIns="25400" bIns="25400">
            <a:normAutofit/>
          </a:bodyPr>
          <a:lstStyle/>
          <a:p>
            <a:pPr algn="l">
              <a:lnSpc>
                <a:spcPct val="115000"/>
              </a:lnSpc>
              <a:spcAft>
                <a:spcPts val="800"/>
              </a:spcAft>
            </a:pPr>
            <a:r>
              <a:rPr sz="1200">
                <a:solidFill>
                  <a:srgbClr val="4DD9CF"/>
                </a:solidFill>
                <a:latin typeface="Inter"/>
              </a:rPr>
              <a:t>• </a:t>
            </a:r>
            <a:r>
              <a:rPr sz="1200" b="1">
                <a:solidFill>
                  <a:srgbClr val="E8F4F8"/>
                </a:solidFill>
                <a:latin typeface="Inter"/>
              </a:rPr>
              <a:t>Brain–Heart Axis:</a:t>
            </a:r>
            <a:r>
              <a:rPr sz="1200">
                <a:solidFill>
                  <a:srgbClr val="8BA8C4"/>
                </a:solidFill>
                <a:latin typeface="Inter"/>
              </a:rPr>
              <a:t> Central autonomic network (insula, prefrontal cortex) modulates cardiac baroreflex sensitivity through slow theta-band envelopes.</a:t>
            </a:r>
          </a:p>
          <a:p>
            <a:pPr algn="l">
              <a:lnSpc>
                <a:spcPct val="115000"/>
              </a:lnSpc>
              <a:spcAft>
                <a:spcPts val="800"/>
              </a:spcAft>
            </a:pPr>
            <a:r>
              <a:rPr sz="1200">
                <a:solidFill>
                  <a:srgbClr val="4DD9CF"/>
                </a:solidFill>
                <a:latin typeface="Inter"/>
              </a:rPr>
              <a:t>• </a:t>
            </a:r>
            <a:r>
              <a:rPr sz="1200" b="1">
                <a:solidFill>
                  <a:srgbClr val="E8F4F8"/>
                </a:solidFill>
                <a:latin typeface="Inter"/>
              </a:rPr>
              <a:t>Autonomic–Metabolic Axis:</a:t>
            </a:r>
            <a:r>
              <a:rPr sz="1200">
                <a:solidFill>
                  <a:srgbClr val="8BA8C4"/>
                </a:solidFill>
                <a:latin typeface="Inter"/>
              </a:rPr>
              <a:t> Vagal efferent bursts pace hepatic gluconeogenesis and postprandial insulin uptake.</a:t>
            </a:r>
          </a:p>
          <a:p>
            <a:pPr algn="l">
              <a:lnSpc>
                <a:spcPct val="115000"/>
              </a:lnSpc>
              <a:spcAft>
                <a:spcPts val="800"/>
              </a:spcAft>
            </a:pPr>
            <a:r>
              <a:rPr sz="1200">
                <a:solidFill>
                  <a:srgbClr val="4DD9CF"/>
                </a:solidFill>
                <a:latin typeface="Inter"/>
              </a:rPr>
              <a:t>• </a:t>
            </a:r>
            <a:r>
              <a:rPr sz="1200" b="1">
                <a:solidFill>
                  <a:srgbClr val="E8F4F8"/>
                </a:solidFill>
                <a:latin typeface="Inter"/>
              </a:rPr>
              <a:t>Multi-Scale Coordination:</a:t>
            </a:r>
            <a:r>
              <a:rPr sz="1200">
                <a:solidFill>
                  <a:srgbClr val="8BA8C4"/>
                </a:solidFill>
                <a:latin typeface="Inter"/>
              </a:rPr>
              <a:t> Amplitude-Carrier Cross-Frequency Coupling (ACFC) provides the quantitative bridge.</a:t>
            </a:r>
          </a:p>
        </p:txBody>
      </p:sp>
      <p:sp>
        <p:nvSpPr>
          <p:cNvPr id="11" name="Rounded Rectangle 10"/>
          <p:cNvSpPr/>
          <p:nvPr/>
        </p:nvSpPr>
        <p:spPr>
          <a:xfrm>
            <a:off x="6248095" y="1691640"/>
            <a:ext cx="5486400" cy="347472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6695" y="1874520"/>
            <a:ext cx="5029200" cy="365760"/>
          </a:xfrm>
          <a:prstGeom prst="rect">
            <a:avLst/>
          </a:prstGeom>
          <a:noFill/>
        </p:spPr>
        <p:txBody>
          <a:bodyPr wrap="square" anchor="t" lIns="50800" rIns="50800" tIns="25400" bIns="25400">
            <a:spAutoFit/>
          </a:bodyPr>
          <a:lstStyle/>
          <a:p>
            <a:pPr algn="l">
              <a:lnSpc>
                <a:spcPct val="115000"/>
              </a:lnSpc>
            </a:pPr>
            <a:r>
              <a:rPr sz="1600" b="1" i="0">
                <a:solidFill>
                  <a:srgbClr val="F4A261"/>
                </a:solidFill>
                <a:latin typeface="Inter"/>
              </a:rPr>
              <a:t>⚡ Hypothesis: Hippocampal SWR–Glucose Link</a:t>
            </a:r>
          </a:p>
        </p:txBody>
      </p:sp>
      <p:sp>
        <p:nvSpPr>
          <p:cNvPr id="13" name="TextBox 12"/>
          <p:cNvSpPr txBox="1"/>
          <p:nvPr/>
        </p:nvSpPr>
        <p:spPr>
          <a:xfrm>
            <a:off x="6476695" y="2313432"/>
            <a:ext cx="5029200" cy="731520"/>
          </a:xfrm>
          <a:prstGeom prst="rect">
            <a:avLst/>
          </a:prstGeom>
          <a:noFill/>
        </p:spPr>
        <p:txBody>
          <a:bodyPr wrap="square" anchor="t" lIns="50800" rIns="50800" tIns="25400" bIns="25400">
            <a:spAutoFit/>
          </a:bodyPr>
          <a:lstStyle/>
          <a:p>
            <a:pPr algn="l">
              <a:lnSpc>
                <a:spcPct val="115000"/>
              </a:lnSpc>
            </a:pPr>
            <a:r>
              <a:rPr sz="1250" b="0" i="0">
                <a:solidFill>
                  <a:srgbClr val="E8F4F8"/>
                </a:solidFill>
                <a:latin typeface="Inter"/>
              </a:rPr>
              <a:t>The Rodent vs. Human Gap: Rodent invasive electrophysiology demonstrates that sleep sharp-wave ripples (SWRs, 150–250 Hz) trigger acute hepatic glucose output.</a:t>
            </a:r>
          </a:p>
        </p:txBody>
      </p:sp>
      <p:sp>
        <p:nvSpPr>
          <p:cNvPr id="14" name="TextBox 13"/>
          <p:cNvSpPr txBox="1"/>
          <p:nvPr/>
        </p:nvSpPr>
        <p:spPr>
          <a:xfrm>
            <a:off x="6476695" y="3090672"/>
            <a:ext cx="5029200" cy="1938528"/>
          </a:xfrm>
          <a:prstGeom prst="rect">
            <a:avLst/>
          </a:prstGeom>
          <a:noFill/>
        </p:spPr>
        <p:txBody>
          <a:bodyPr wrap="square" anchor="t" lIns="50800" rIns="50800" tIns="25400" bIns="25400">
            <a:normAutofit/>
          </a:bodyPr>
          <a:lstStyle/>
          <a:p>
            <a:pPr algn="l">
              <a:lnSpc>
                <a:spcPct val="115000"/>
              </a:lnSpc>
              <a:spcAft>
                <a:spcPts val="800"/>
              </a:spcAft>
            </a:pPr>
            <a:r>
              <a:rPr sz="1200">
                <a:solidFill>
                  <a:srgbClr val="4DD9CF"/>
                </a:solidFill>
                <a:latin typeface="Inter"/>
              </a:rPr>
              <a:t>• </a:t>
            </a:r>
            <a:r>
              <a:rPr sz="1200" b="1">
                <a:solidFill>
                  <a:srgbClr val="E8F4F8"/>
                </a:solidFill>
                <a:latin typeface="Inter"/>
              </a:rPr>
              <a:t>Explicit Boundary:</a:t>
            </a:r>
            <a:r>
              <a:rPr sz="1200">
                <a:solidFill>
                  <a:srgbClr val="8BA8C4"/>
                </a:solidFill>
                <a:latin typeface="Inter"/>
              </a:rPr>
              <a:t> In non-invasive human scalp EEG, individual hippocampal SWRs cannot be resolved directly, nor can 5-min interstitial CGM track millisecond spikes.</a:t>
            </a:r>
          </a:p>
          <a:p>
            <a:pPr algn="l">
              <a:lnSpc>
                <a:spcPct val="115000"/>
              </a:lnSpc>
              <a:spcAft>
                <a:spcPts val="800"/>
              </a:spcAft>
            </a:pPr>
            <a:r>
              <a:rPr sz="1200">
                <a:solidFill>
                  <a:srgbClr val="4DD9CF"/>
                </a:solidFill>
                <a:latin typeface="Inter"/>
              </a:rPr>
              <a:t>• </a:t>
            </a:r>
            <a:r>
              <a:rPr sz="1200" b="1">
                <a:solidFill>
                  <a:srgbClr val="E8F4F8"/>
                </a:solidFill>
                <a:latin typeface="Inter"/>
              </a:rPr>
              <a:t>Epistemic Rigor:</a:t>
            </a:r>
            <a:r>
              <a:rPr sz="1200">
                <a:solidFill>
                  <a:srgbClr val="8BA8C4"/>
                </a:solidFill>
                <a:latin typeface="Inter"/>
              </a:rPr>
              <a:t> Must be formally labeled as an UNTESTED HYPOTHESIS for non-invasive human HHSA.</a:t>
            </a:r>
          </a:p>
          <a:p>
            <a:pPr algn="l">
              <a:lnSpc>
                <a:spcPct val="115000"/>
              </a:lnSpc>
              <a:spcAft>
                <a:spcPts val="800"/>
              </a:spcAft>
            </a:pPr>
            <a:r>
              <a:rPr sz="1200">
                <a:solidFill>
                  <a:srgbClr val="4DD9CF"/>
                </a:solidFill>
                <a:latin typeface="Inter"/>
              </a:rPr>
              <a:t>• </a:t>
            </a:r>
            <a:r>
              <a:rPr sz="1200">
                <a:solidFill>
                  <a:srgbClr val="8BA8C4"/>
                </a:solidFill>
                <a:latin typeface="Inter"/>
              </a:rPr>
              <a:t>Requires synchronized high-density EEG, ultra-fast metabolic sensing, and surrogate null controls.</a:t>
            </a:r>
          </a:p>
        </p:txBody>
      </p:sp>
      <p:sp>
        <p:nvSpPr>
          <p:cNvPr id="15" name="Rounded Rectangle 14"/>
          <p:cNvSpPr/>
          <p:nvPr/>
        </p:nvSpPr>
        <p:spPr>
          <a:xfrm>
            <a:off x="457200" y="5349240"/>
            <a:ext cx="11277295" cy="914400"/>
          </a:xfrm>
          <a:prstGeom prst="roundRect">
            <a:avLst>
              <a:gd name="adj" fmla="val 2000"/>
            </a:avLst>
          </a:prstGeom>
          <a:solidFill>
            <a:srgbClr val="162248"/>
          </a:solidFill>
          <a:ln w="1524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b="1" sz="1250">
                <a:solidFill>
                  <a:srgbClr val="F4A261"/>
                </a:solidFill>
                <a:latin typeface="Inter"/>
              </a:rPr>
              <a:t>Epistemic Rigor: </a:t>
            </a:r>
            <a:r>
              <a:rPr sz="1250">
                <a:solidFill>
                  <a:srgbClr val="E8F4F8"/>
                </a:solidFill>
                <a:latin typeface="Consolas"/>
              </a:rPr>
              <a:t>Epistemic Rigor: We distinguish confirmed animal neurobiology from human non-invasive feasibility. Multi-modal cross-organ cubes require synchronous high-resolution recording before claiming direct coupling.</a:t>
            </a:r>
          </a:p>
        </p:txBody>
      </p:sp>
      <p:sp>
        <p:nvSpPr>
          <p:cNvPr id="16" name="TextBox 15"/>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7" name="TextBox 16"/>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15 of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A78BFA"/>
                </a:solidFill>
                <a:latin typeface="Consolas"/>
              </a:rPr>
              <a:t>L</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§6 Methodological Integrity • Pitfall Ledger</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16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Five Pitfalls That Change the Answer</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Common technical errors that generate artificial amplitude modulation and false positives</a:t>
            </a:r>
          </a:p>
        </p:txBody>
      </p:sp>
      <p:sp>
        <p:nvSpPr>
          <p:cNvPr id="7" name="Rounded Rectangle 6"/>
          <p:cNvSpPr/>
          <p:nvPr/>
        </p:nvSpPr>
        <p:spPr>
          <a:xfrm>
            <a:off x="457200" y="1691640"/>
            <a:ext cx="3611880" cy="21488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01368"/>
            <a:ext cx="3246120" cy="320040"/>
          </a:xfrm>
          <a:prstGeom prst="rect">
            <a:avLst/>
          </a:prstGeom>
          <a:noFill/>
        </p:spPr>
        <p:txBody>
          <a:bodyPr wrap="square" anchor="t" lIns="50800" rIns="50800" tIns="25400" bIns="25400">
            <a:spAutoFit/>
          </a:bodyPr>
          <a:lstStyle/>
          <a:p>
            <a:pPr algn="l">
              <a:lnSpc>
                <a:spcPct val="115000"/>
              </a:lnSpc>
            </a:pPr>
            <a:r>
              <a:rPr sz="1350" b="1" i="0">
                <a:solidFill>
                  <a:srgbClr val="EF4444"/>
                </a:solidFill>
                <a:latin typeface="Inter"/>
              </a:rPr>
              <a:t>1. Nyquist &amp; Aliasing</a:t>
            </a:r>
          </a:p>
        </p:txBody>
      </p:sp>
      <p:sp>
        <p:nvSpPr>
          <p:cNvPr id="9" name="TextBox 8"/>
          <p:cNvSpPr txBox="1"/>
          <p:nvPr/>
        </p:nvSpPr>
        <p:spPr>
          <a:xfrm>
            <a:off x="640080" y="2148840"/>
            <a:ext cx="3246120" cy="685800"/>
          </a:xfrm>
          <a:prstGeom prst="rect">
            <a:avLst/>
          </a:prstGeom>
          <a:noFill/>
        </p:spPr>
        <p:txBody>
          <a:bodyPr wrap="square" anchor="t" lIns="50800" rIns="50800" tIns="25400" bIns="25400">
            <a:spAutoFit/>
          </a:bodyPr>
          <a:lstStyle/>
          <a:p>
            <a:pPr algn="l">
              <a:lnSpc>
                <a:spcPct val="115000"/>
              </a:lnSpc>
            </a:pPr>
            <a:r>
              <a:rPr sz="1150" b="0" i="0">
                <a:solidFill>
                  <a:srgbClr val="E8F4F8"/>
                </a:solidFill>
                <a:latin typeface="Inter"/>
              </a:rPr>
              <a:t>Under-sampling folds high-frequency noise directly into physiological bands.</a:t>
            </a:r>
          </a:p>
        </p:txBody>
      </p:sp>
      <p:sp>
        <p:nvSpPr>
          <p:cNvPr id="10" name="Rounded Rectangle 9"/>
          <p:cNvSpPr/>
          <p:nvPr/>
        </p:nvSpPr>
        <p:spPr>
          <a:xfrm>
            <a:off x="594360" y="2880360"/>
            <a:ext cx="3337560" cy="822960"/>
          </a:xfrm>
          <a:prstGeom prst="roundRect">
            <a:avLst>
              <a:gd name="adj" fmla="val 8000"/>
            </a:avLst>
          </a:prstGeom>
          <a:solidFill>
            <a:srgbClr val="162248"/>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a:lstStyle/>
          <a:p>
            <a:pPr algn="ctr">
              <a:lnSpc>
                <a:spcPct val="115000"/>
              </a:lnSpc>
            </a:pPr>
            <a:r>
              <a:rPr sz="1100" b="1">
                <a:solidFill>
                  <a:srgbClr val="EF4444"/>
                </a:solidFill>
              </a:rPr>
              <a:t>Rule: Sensor sampling rate f_s must be strictly &gt; 2 × max carrier frequency, with analog anti-aliasing.</a:t>
            </a:r>
          </a:p>
        </p:txBody>
      </p:sp>
      <p:sp>
        <p:nvSpPr>
          <p:cNvPr id="11" name="Rounded Rectangle 10"/>
          <p:cNvSpPr/>
          <p:nvPr/>
        </p:nvSpPr>
        <p:spPr>
          <a:xfrm>
            <a:off x="4288536" y="1691640"/>
            <a:ext cx="3611880" cy="21488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1416" y="1801368"/>
            <a:ext cx="3246120" cy="320040"/>
          </a:xfrm>
          <a:prstGeom prst="rect">
            <a:avLst/>
          </a:prstGeom>
          <a:noFill/>
        </p:spPr>
        <p:txBody>
          <a:bodyPr wrap="square" anchor="t" lIns="50800" rIns="50800" tIns="25400" bIns="25400">
            <a:spAutoFit/>
          </a:bodyPr>
          <a:lstStyle/>
          <a:p>
            <a:pPr algn="l">
              <a:lnSpc>
                <a:spcPct val="115000"/>
              </a:lnSpc>
            </a:pPr>
            <a:r>
              <a:rPr sz="1350" b="1" i="0">
                <a:solidFill>
                  <a:srgbClr val="EF4444"/>
                </a:solidFill>
                <a:latin typeface="Inter"/>
              </a:rPr>
              <a:t>2. Insufficient Duration T</a:t>
            </a:r>
          </a:p>
        </p:txBody>
      </p:sp>
      <p:sp>
        <p:nvSpPr>
          <p:cNvPr id="13" name="TextBox 12"/>
          <p:cNvSpPr txBox="1"/>
          <p:nvPr/>
        </p:nvSpPr>
        <p:spPr>
          <a:xfrm>
            <a:off x="4471416" y="2148840"/>
            <a:ext cx="3246120" cy="685800"/>
          </a:xfrm>
          <a:prstGeom prst="rect">
            <a:avLst/>
          </a:prstGeom>
          <a:noFill/>
        </p:spPr>
        <p:txBody>
          <a:bodyPr wrap="square" anchor="t" lIns="50800" rIns="50800" tIns="25400" bIns="25400">
            <a:spAutoFit/>
          </a:bodyPr>
          <a:lstStyle/>
          <a:p>
            <a:pPr algn="l">
              <a:lnSpc>
                <a:spcPct val="115000"/>
              </a:lnSpc>
            </a:pPr>
            <a:r>
              <a:rPr sz="1150" b="0" i="0">
                <a:solidFill>
                  <a:srgbClr val="E8F4F8"/>
                </a:solidFill>
                <a:latin typeface="Inter"/>
              </a:rPr>
              <a:t>Attempting to extract rhythms slower than 3 / T causes severe envelope smearing.</a:t>
            </a:r>
          </a:p>
        </p:txBody>
      </p:sp>
      <p:sp>
        <p:nvSpPr>
          <p:cNvPr id="14" name="Rounded Rectangle 13"/>
          <p:cNvSpPr/>
          <p:nvPr/>
        </p:nvSpPr>
        <p:spPr>
          <a:xfrm>
            <a:off x="4425696" y="2880360"/>
            <a:ext cx="3337560" cy="822960"/>
          </a:xfrm>
          <a:prstGeom prst="roundRect">
            <a:avLst>
              <a:gd name="adj" fmla="val 8000"/>
            </a:avLst>
          </a:prstGeom>
          <a:solidFill>
            <a:srgbClr val="162248"/>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a:lstStyle/>
          <a:p>
            <a:pPr algn="ctr">
              <a:lnSpc>
                <a:spcPct val="115000"/>
              </a:lnSpc>
            </a:pPr>
            <a:r>
              <a:rPr sz="1100" b="1">
                <a:solidFill>
                  <a:srgbClr val="EF4444"/>
                </a:solidFill>
              </a:rPr>
              <a:t>Rule: Strictly mask or grey-out bins below 3 / T in all published spectra.</a:t>
            </a:r>
          </a:p>
        </p:txBody>
      </p:sp>
      <p:sp>
        <p:nvSpPr>
          <p:cNvPr id="15" name="Rounded Rectangle 14"/>
          <p:cNvSpPr/>
          <p:nvPr/>
        </p:nvSpPr>
        <p:spPr>
          <a:xfrm>
            <a:off x="8119872" y="1691640"/>
            <a:ext cx="3611880" cy="21488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1801368"/>
            <a:ext cx="3246120" cy="320040"/>
          </a:xfrm>
          <a:prstGeom prst="rect">
            <a:avLst/>
          </a:prstGeom>
          <a:noFill/>
        </p:spPr>
        <p:txBody>
          <a:bodyPr wrap="square" anchor="t" lIns="50800" rIns="50800" tIns="25400" bIns="25400">
            <a:spAutoFit/>
          </a:bodyPr>
          <a:lstStyle/>
          <a:p>
            <a:pPr algn="l">
              <a:lnSpc>
                <a:spcPct val="115000"/>
              </a:lnSpc>
            </a:pPr>
            <a:r>
              <a:rPr sz="1350" b="1" i="0">
                <a:solidFill>
                  <a:srgbClr val="EF4444"/>
                </a:solidFill>
                <a:latin typeface="Inter"/>
              </a:rPr>
              <a:t>3. Mode Mixing</a:t>
            </a:r>
          </a:p>
        </p:txBody>
      </p:sp>
      <p:sp>
        <p:nvSpPr>
          <p:cNvPr id="17" name="TextBox 16"/>
          <p:cNvSpPr txBox="1"/>
          <p:nvPr/>
        </p:nvSpPr>
        <p:spPr>
          <a:xfrm>
            <a:off x="8302752" y="2148840"/>
            <a:ext cx="3246120" cy="685800"/>
          </a:xfrm>
          <a:prstGeom prst="rect">
            <a:avLst/>
          </a:prstGeom>
          <a:noFill/>
        </p:spPr>
        <p:txBody>
          <a:bodyPr wrap="square" anchor="t" lIns="50800" rIns="50800" tIns="25400" bIns="25400">
            <a:spAutoFit/>
          </a:bodyPr>
          <a:lstStyle/>
          <a:p>
            <a:pPr algn="l">
              <a:lnSpc>
                <a:spcPct val="115000"/>
              </a:lnSpc>
            </a:pPr>
            <a:r>
              <a:rPr sz="1150" b="0" i="0">
                <a:solidFill>
                  <a:srgbClr val="E8F4F8"/>
                </a:solidFill>
                <a:latin typeface="Inter"/>
              </a:rPr>
              <a:t>Intermittent signals cause single IMFs to jump across multiple frequency octaves.</a:t>
            </a:r>
          </a:p>
        </p:txBody>
      </p:sp>
      <p:sp>
        <p:nvSpPr>
          <p:cNvPr id="18" name="Rounded Rectangle 17"/>
          <p:cNvSpPr/>
          <p:nvPr/>
        </p:nvSpPr>
        <p:spPr>
          <a:xfrm>
            <a:off x="8257032" y="2880360"/>
            <a:ext cx="3337560" cy="822960"/>
          </a:xfrm>
          <a:prstGeom prst="roundRect">
            <a:avLst>
              <a:gd name="adj" fmla="val 8000"/>
            </a:avLst>
          </a:prstGeom>
          <a:solidFill>
            <a:srgbClr val="162248"/>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a:lstStyle/>
          <a:p>
            <a:pPr algn="ctr">
              <a:lnSpc>
                <a:spcPct val="115000"/>
              </a:lnSpc>
            </a:pPr>
            <a:r>
              <a:rPr sz="1100" b="1">
                <a:solidFill>
                  <a:srgbClr val="EF4444"/>
                </a:solidFill>
              </a:rPr>
              <a:t>Rule: Always use noise-assisted sifting (EEMD or CEEMDAN) with &gt;= 100 ensemble trials.</a:t>
            </a:r>
          </a:p>
        </p:txBody>
      </p:sp>
      <p:sp>
        <p:nvSpPr>
          <p:cNvPr id="19" name="Rounded Rectangle 18"/>
          <p:cNvSpPr/>
          <p:nvPr/>
        </p:nvSpPr>
        <p:spPr>
          <a:xfrm>
            <a:off x="457200" y="4023360"/>
            <a:ext cx="3611880" cy="21488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133088"/>
            <a:ext cx="3246120" cy="320040"/>
          </a:xfrm>
          <a:prstGeom prst="rect">
            <a:avLst/>
          </a:prstGeom>
          <a:noFill/>
        </p:spPr>
        <p:txBody>
          <a:bodyPr wrap="square" anchor="t" lIns="50800" rIns="50800" tIns="25400" bIns="25400">
            <a:spAutoFit/>
          </a:bodyPr>
          <a:lstStyle/>
          <a:p>
            <a:pPr algn="l">
              <a:lnSpc>
                <a:spcPct val="115000"/>
              </a:lnSpc>
            </a:pPr>
            <a:r>
              <a:rPr sz="1350" b="1" i="0">
                <a:solidFill>
                  <a:srgbClr val="EF4444"/>
                </a:solidFill>
                <a:latin typeface="Inter"/>
              </a:rPr>
              <a:t>4. Edge Spline Distortion</a:t>
            </a:r>
          </a:p>
        </p:txBody>
      </p:sp>
      <p:sp>
        <p:nvSpPr>
          <p:cNvPr id="21" name="TextBox 20"/>
          <p:cNvSpPr txBox="1"/>
          <p:nvPr/>
        </p:nvSpPr>
        <p:spPr>
          <a:xfrm>
            <a:off x="640080" y="4480560"/>
            <a:ext cx="3246120" cy="685800"/>
          </a:xfrm>
          <a:prstGeom prst="rect">
            <a:avLst/>
          </a:prstGeom>
          <a:noFill/>
        </p:spPr>
        <p:txBody>
          <a:bodyPr wrap="square" anchor="t" lIns="50800" rIns="50800" tIns="25400" bIns="25400">
            <a:spAutoFit/>
          </a:bodyPr>
          <a:lstStyle/>
          <a:p>
            <a:pPr algn="l">
              <a:lnSpc>
                <a:spcPct val="115000"/>
              </a:lnSpc>
            </a:pPr>
            <a:r>
              <a:rPr sz="1150" b="0" i="0">
                <a:solidFill>
                  <a:srgbClr val="E8F4F8"/>
                </a:solidFill>
                <a:latin typeface="Inter"/>
              </a:rPr>
              <a:t>Cubic spline interpolation diverges at signal boundaries, distorting Hilbert phases.</a:t>
            </a:r>
          </a:p>
        </p:txBody>
      </p:sp>
      <p:sp>
        <p:nvSpPr>
          <p:cNvPr id="22" name="Rounded Rectangle 21"/>
          <p:cNvSpPr/>
          <p:nvPr/>
        </p:nvSpPr>
        <p:spPr>
          <a:xfrm>
            <a:off x="594360" y="5212080"/>
            <a:ext cx="3337560" cy="822960"/>
          </a:xfrm>
          <a:prstGeom prst="roundRect">
            <a:avLst>
              <a:gd name="adj" fmla="val 8000"/>
            </a:avLst>
          </a:prstGeom>
          <a:solidFill>
            <a:srgbClr val="162248"/>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a:lstStyle/>
          <a:p>
            <a:pPr algn="ctr">
              <a:lnSpc>
                <a:spcPct val="115000"/>
              </a:lnSpc>
            </a:pPr>
            <a:r>
              <a:rPr sz="1100" b="1">
                <a:solidFill>
                  <a:srgbClr val="EF4444"/>
                </a:solidFill>
              </a:rPr>
              <a:t>Rule: Systematically trim 5% to 10% of samples from both ends prior to spectral evaluation.</a:t>
            </a:r>
          </a:p>
        </p:txBody>
      </p:sp>
      <p:sp>
        <p:nvSpPr>
          <p:cNvPr id="23" name="Rounded Rectangle 22"/>
          <p:cNvSpPr/>
          <p:nvPr/>
        </p:nvSpPr>
        <p:spPr>
          <a:xfrm>
            <a:off x="4288536" y="4023360"/>
            <a:ext cx="3611880" cy="21488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71416" y="4133088"/>
            <a:ext cx="3246120" cy="320040"/>
          </a:xfrm>
          <a:prstGeom prst="rect">
            <a:avLst/>
          </a:prstGeom>
          <a:noFill/>
        </p:spPr>
        <p:txBody>
          <a:bodyPr wrap="square" anchor="t" lIns="50800" rIns="50800" tIns="25400" bIns="25400">
            <a:spAutoFit/>
          </a:bodyPr>
          <a:lstStyle/>
          <a:p>
            <a:pPr algn="l">
              <a:lnSpc>
                <a:spcPct val="115000"/>
              </a:lnSpc>
            </a:pPr>
            <a:r>
              <a:rPr sz="1350" b="1" i="0">
                <a:solidFill>
                  <a:srgbClr val="EF4444"/>
                </a:solidFill>
                <a:latin typeface="Inter"/>
              </a:rPr>
              <a:t>5. Spurious AM (f_AM &gt;= f_c)</a:t>
            </a:r>
          </a:p>
        </p:txBody>
      </p:sp>
      <p:sp>
        <p:nvSpPr>
          <p:cNvPr id="25" name="TextBox 24"/>
          <p:cNvSpPr txBox="1"/>
          <p:nvPr/>
        </p:nvSpPr>
        <p:spPr>
          <a:xfrm>
            <a:off x="4471416" y="4480560"/>
            <a:ext cx="3246120" cy="685800"/>
          </a:xfrm>
          <a:prstGeom prst="rect">
            <a:avLst/>
          </a:prstGeom>
          <a:noFill/>
        </p:spPr>
        <p:txBody>
          <a:bodyPr wrap="square" anchor="t" lIns="50800" rIns="50800" tIns="25400" bIns="25400">
            <a:spAutoFit/>
          </a:bodyPr>
          <a:lstStyle/>
          <a:p>
            <a:pPr algn="l">
              <a:lnSpc>
                <a:spcPct val="115000"/>
              </a:lnSpc>
            </a:pPr>
            <a:r>
              <a:rPr sz="1150" b="0" i="0">
                <a:solidFill>
                  <a:srgbClr val="E8F4F8"/>
                </a:solidFill>
                <a:latin typeface="Inter"/>
              </a:rPr>
              <a:t>Allowing unmasked coordinates where modulation is faster than carrier violates Bedrosian theorem.</a:t>
            </a:r>
          </a:p>
        </p:txBody>
      </p:sp>
      <p:sp>
        <p:nvSpPr>
          <p:cNvPr id="26" name="Rounded Rectangle 25"/>
          <p:cNvSpPr/>
          <p:nvPr/>
        </p:nvSpPr>
        <p:spPr>
          <a:xfrm>
            <a:off x="4425696" y="5212080"/>
            <a:ext cx="3337560" cy="822960"/>
          </a:xfrm>
          <a:prstGeom prst="roundRect">
            <a:avLst>
              <a:gd name="adj" fmla="val 8000"/>
            </a:avLst>
          </a:prstGeom>
          <a:solidFill>
            <a:srgbClr val="162248"/>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a:lstStyle/>
          <a:p>
            <a:pPr algn="ctr">
              <a:lnSpc>
                <a:spcPct val="115000"/>
              </a:lnSpc>
            </a:pPr>
            <a:r>
              <a:rPr sz="1100" b="1">
                <a:solidFill>
                  <a:srgbClr val="EF4444"/>
                </a:solidFill>
              </a:rPr>
              <a:t>Rule: Enforce the mathematical admissibility plane mask f_AM &lt; f_c.</a:t>
            </a:r>
          </a:p>
        </p:txBody>
      </p:sp>
      <p:sp>
        <p:nvSpPr>
          <p:cNvPr id="27" name="Rounded Rectangle 26"/>
          <p:cNvSpPr/>
          <p:nvPr/>
        </p:nvSpPr>
        <p:spPr>
          <a:xfrm>
            <a:off x="8119872" y="4023360"/>
            <a:ext cx="3611880" cy="214884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2752" y="4133088"/>
            <a:ext cx="3246120" cy="320040"/>
          </a:xfrm>
          <a:prstGeom prst="rect">
            <a:avLst/>
          </a:prstGeom>
          <a:noFill/>
        </p:spPr>
        <p:txBody>
          <a:bodyPr wrap="square" anchor="t" lIns="50800" rIns="50800" tIns="25400" bIns="25400">
            <a:spAutoFit/>
          </a:bodyPr>
          <a:lstStyle/>
          <a:p>
            <a:pPr algn="l">
              <a:lnSpc>
                <a:spcPct val="115000"/>
              </a:lnSpc>
            </a:pPr>
            <a:r>
              <a:rPr sz="1350" b="1" i="0">
                <a:solidFill>
                  <a:srgbClr val="22C55E"/>
                </a:solidFill>
                <a:latin typeface="Inter"/>
              </a:rPr>
              <a:t>Antidote: Null Testing</a:t>
            </a:r>
          </a:p>
        </p:txBody>
      </p:sp>
      <p:sp>
        <p:nvSpPr>
          <p:cNvPr id="29" name="TextBox 28"/>
          <p:cNvSpPr txBox="1"/>
          <p:nvPr/>
        </p:nvSpPr>
        <p:spPr>
          <a:xfrm>
            <a:off x="8302752" y="4480560"/>
            <a:ext cx="3246120" cy="685800"/>
          </a:xfrm>
          <a:prstGeom prst="rect">
            <a:avLst/>
          </a:prstGeom>
          <a:noFill/>
        </p:spPr>
        <p:txBody>
          <a:bodyPr wrap="square" anchor="t" lIns="50800" rIns="50800" tIns="25400" bIns="25400">
            <a:spAutoFit/>
          </a:bodyPr>
          <a:lstStyle/>
          <a:p>
            <a:pPr algn="l">
              <a:lnSpc>
                <a:spcPct val="115000"/>
              </a:lnSpc>
            </a:pPr>
            <a:r>
              <a:rPr sz="1150" b="0" i="0">
                <a:solidFill>
                  <a:srgbClr val="E8F4F8"/>
                </a:solidFill>
                <a:latin typeface="Inter"/>
              </a:rPr>
              <a:t>Benchmark observed peaks against phase-randomized (IAAFT) surrogate time series.</a:t>
            </a:r>
          </a:p>
        </p:txBody>
      </p:sp>
      <p:sp>
        <p:nvSpPr>
          <p:cNvPr id="30" name="Rounded Rectangle 29"/>
          <p:cNvSpPr/>
          <p:nvPr/>
        </p:nvSpPr>
        <p:spPr>
          <a:xfrm>
            <a:off x="8257032" y="5212080"/>
            <a:ext cx="3337560" cy="822960"/>
          </a:xfrm>
          <a:prstGeom prst="roundRect">
            <a:avLst>
              <a:gd name="adj" fmla="val 8000"/>
            </a:avLst>
          </a:prstGeom>
          <a:solidFill>
            <a:srgbClr val="162248"/>
          </a:solidFill>
          <a:ln w="952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a:lstStyle/>
          <a:p>
            <a:pPr algn="ctr">
              <a:lnSpc>
                <a:spcPct val="115000"/>
              </a:lnSpc>
            </a:pPr>
            <a:r>
              <a:rPr sz="1100" b="1">
                <a:solidFill>
                  <a:srgbClr val="22C55E"/>
                </a:solidFill>
              </a:rPr>
              <a:t>Rule: Verifies whether AM energy exceeds stochastic linear noise baselines.</a:t>
            </a:r>
          </a:p>
        </p:txBody>
      </p:sp>
      <p:sp>
        <p:nvSpPr>
          <p:cNvPr id="31" name="TextBox 30"/>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32" name="TextBox 31"/>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16 of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A78BFA"/>
                </a:solidFill>
                <a:latin typeface="Consolas"/>
              </a:rPr>
              <a:t>L</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§6, Table 3 Reporting Standard • Reproducibility Standard</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17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Standardizing Physiological HHSA: The 8-Point Checklist</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A minimum reporting standard to eliminate reproducibility crises in non-linear signal processing</a:t>
            </a:r>
          </a:p>
        </p:txBody>
      </p:sp>
      <p:graphicFrame>
        <p:nvGraphicFramePr>
          <p:cNvPr id="7" name="Table 6"/>
          <p:cNvGraphicFramePr>
            <a:graphicFrameLocks noGrp="1"/>
          </p:cNvGraphicFramePr>
          <p:nvPr/>
        </p:nvGraphicFramePr>
        <p:xfrm>
          <a:off x="457200" y="1691640"/>
          <a:ext cx="11277295" cy="4480560"/>
        </p:xfrm>
        <a:graphic>
          <a:graphicData uri="http://schemas.openxmlformats.org/drawingml/2006/table">
            <a:tbl>
              <a:tblPr firstRow="1" bandRow="1">
                <a:tableStyleId>{5C22544A-7EE6-4342-B048-85BDC9FD1C3A}</a:tableStyleId>
              </a:tblPr>
              <a:tblGrid>
                <a:gridCol w="548640"/>
                <a:gridCol w="2286000"/>
                <a:gridCol w="4114800"/>
                <a:gridCol w="4327855"/>
              </a:tblGrid>
              <a:tr h="497840">
                <a:tc>
                  <a:txBody>
                    <a:bodyPr/>
                    <a:lstStyle/>
                    <a:p>
                      <a:pPr algn="l"/>
                      <a:r>
                        <a:rPr b="1" sz="1050">
                          <a:solidFill>
                            <a:srgbClr val="4DD9CF"/>
                          </a:solidFill>
                          <a:latin typeface="Inter"/>
                        </a:rPr>
                        <a:t>#</a:t>
                      </a:r>
                    </a:p>
                  </a:txBody>
                  <a:tcPr marL="76200" marR="76200" marT="50800" marB="50800">
                    <a:solidFill>
                      <a:srgbClr val="162248"/>
                    </a:solidFill>
                  </a:tcPr>
                </a:tc>
                <a:tc>
                  <a:txBody>
                    <a:bodyPr/>
                    <a:lstStyle/>
                    <a:p>
                      <a:pPr algn="l"/>
                      <a:r>
                        <a:rPr b="1" sz="1050">
                          <a:solidFill>
                            <a:srgbClr val="4DD9CF"/>
                          </a:solidFill>
                          <a:latin typeface="Inter"/>
                        </a:rPr>
                        <a:t>Reporting Dimension</a:t>
                      </a:r>
                    </a:p>
                  </a:txBody>
                  <a:tcPr marL="76200" marR="76200" marT="50800" marB="50800">
                    <a:solidFill>
                      <a:srgbClr val="162248"/>
                    </a:solidFill>
                  </a:tcPr>
                </a:tc>
                <a:tc>
                  <a:txBody>
                    <a:bodyPr/>
                    <a:lstStyle/>
                    <a:p>
                      <a:pPr algn="l"/>
                      <a:r>
                        <a:rPr b="1" sz="1050">
                          <a:solidFill>
                            <a:srgbClr val="4DD9CF"/>
                          </a:solidFill>
                          <a:latin typeface="Inter"/>
                        </a:rPr>
                        <a:t>Mandatory Specification</a:t>
                      </a:r>
                    </a:p>
                  </a:txBody>
                  <a:tcPr marL="76200" marR="76200" marT="50800" marB="50800">
                    <a:solidFill>
                      <a:srgbClr val="162248"/>
                    </a:solidFill>
                  </a:tcPr>
                </a:tc>
                <a:tc>
                  <a:txBody>
                    <a:bodyPr/>
                    <a:lstStyle/>
                    <a:p>
                      <a:pPr algn="l"/>
                      <a:r>
                        <a:rPr b="1" sz="1050">
                          <a:solidFill>
                            <a:srgbClr val="4DD9CF"/>
                          </a:solidFill>
                          <a:latin typeface="Inter"/>
                        </a:rPr>
                        <a:t>Rationale in Biological Applications</a:t>
                      </a:r>
                    </a:p>
                  </a:txBody>
                  <a:tcPr marL="76200" marR="76200" marT="50800" marB="50800">
                    <a:solidFill>
                      <a:srgbClr val="162248"/>
                    </a:solidFill>
                  </a:tcPr>
                </a:tc>
              </a:tr>
              <a:tr h="497840">
                <a:tc>
                  <a:txBody>
                    <a:bodyPr/>
                    <a:lstStyle/>
                    <a:p>
                      <a:pPr algn="l"/>
                      <a:r>
                        <a:rPr sz="1000" b="1">
                          <a:solidFill>
                            <a:srgbClr val="E8F4F8"/>
                          </a:solidFill>
                          <a:latin typeface="Inter"/>
                        </a:rPr>
                        <a:t>1</a:t>
                      </a:r>
                    </a:p>
                  </a:txBody>
                  <a:tcPr marL="76200" marR="76200" marT="50800" marB="50800">
                    <a:solidFill>
                      <a:srgbClr val="111D3C"/>
                    </a:solidFill>
                  </a:tcPr>
                </a:tc>
                <a:tc>
                  <a:txBody>
                    <a:bodyPr/>
                    <a:lstStyle/>
                    <a:p>
                      <a:pPr algn="l"/>
                      <a:r>
                        <a:rPr sz="1000">
                          <a:solidFill>
                            <a:srgbClr val="8BA8C4"/>
                          </a:solidFill>
                          <a:latin typeface="Inter"/>
                        </a:rPr>
                        <a:t>Decomposition Algorithm</a:t>
                      </a:r>
                    </a:p>
                  </a:txBody>
                  <a:tcPr marL="76200" marR="76200" marT="50800" marB="50800">
                    <a:solidFill>
                      <a:srgbClr val="111D3C"/>
                    </a:solidFill>
                  </a:tcPr>
                </a:tc>
                <a:tc>
                  <a:txBody>
                    <a:bodyPr/>
                    <a:lstStyle/>
                    <a:p>
                      <a:pPr algn="l"/>
                      <a:r>
                        <a:rPr sz="1000">
                          <a:solidFill>
                            <a:srgbClr val="8BA8C4"/>
                          </a:solidFill>
                          <a:latin typeface="Inter"/>
                        </a:rPr>
                        <a:t>EEMD / CEEMDAN / Masking, ensemble size N, noise amplitude eps</a:t>
                      </a:r>
                    </a:p>
                  </a:txBody>
                  <a:tcPr marL="76200" marR="76200" marT="50800" marB="50800">
                    <a:solidFill>
                      <a:srgbClr val="111D3C"/>
                    </a:solidFill>
                  </a:tcPr>
                </a:tc>
                <a:tc>
                  <a:txBody>
                    <a:bodyPr/>
                    <a:lstStyle/>
                    <a:p>
                      <a:pPr algn="l"/>
                      <a:r>
                        <a:rPr sz="1000">
                          <a:solidFill>
                            <a:srgbClr val="8BA8C4"/>
                          </a:solidFill>
                          <a:latin typeface="Inter"/>
                        </a:rPr>
                        <a:t>Eliminates mode mixing and guarantees deterministic reconstruction.</a:t>
                      </a:r>
                    </a:p>
                  </a:txBody>
                  <a:tcPr marL="76200" marR="76200" marT="50800" marB="50800">
                    <a:solidFill>
                      <a:srgbClr val="111D3C"/>
                    </a:solidFill>
                  </a:tcPr>
                </a:tc>
              </a:tr>
              <a:tr h="497840">
                <a:tc>
                  <a:txBody>
                    <a:bodyPr/>
                    <a:lstStyle/>
                    <a:p>
                      <a:pPr algn="l"/>
                      <a:r>
                        <a:rPr sz="1000" b="1">
                          <a:solidFill>
                            <a:srgbClr val="E8F4F8"/>
                          </a:solidFill>
                          <a:latin typeface="Inter"/>
                        </a:rPr>
                        <a:t>2</a:t>
                      </a:r>
                    </a:p>
                  </a:txBody>
                  <a:tcPr marL="76200" marR="76200" marT="50800" marB="50800">
                    <a:solidFill>
                      <a:srgbClr val="162248"/>
                    </a:solidFill>
                  </a:tcPr>
                </a:tc>
                <a:tc>
                  <a:txBody>
                    <a:bodyPr/>
                    <a:lstStyle/>
                    <a:p>
                      <a:pPr algn="l"/>
                      <a:r>
                        <a:rPr sz="1000">
                          <a:solidFill>
                            <a:srgbClr val="8BA8C4"/>
                          </a:solidFill>
                          <a:latin typeface="Inter"/>
                        </a:rPr>
                        <a:t>Instantaneous Frequency</a:t>
                      </a:r>
                    </a:p>
                  </a:txBody>
                  <a:tcPr marL="76200" marR="76200" marT="50800" marB="50800">
                    <a:solidFill>
                      <a:srgbClr val="162248"/>
                    </a:solidFill>
                  </a:tcPr>
                </a:tc>
                <a:tc>
                  <a:txBody>
                    <a:bodyPr/>
                    <a:lstStyle/>
                    <a:p>
                      <a:pPr algn="l"/>
                      <a:r>
                        <a:rPr sz="1000">
                          <a:solidFill>
                            <a:srgbClr val="8BA8C4"/>
                          </a:solidFill>
                          <a:latin typeface="Inter"/>
                        </a:rPr>
                        <a:t>Direct Quadrature (DQ) vs. Normalized Hilbert Transform (NHT)</a:t>
                      </a:r>
                    </a:p>
                  </a:txBody>
                  <a:tcPr marL="76200" marR="76200" marT="50800" marB="50800">
                    <a:solidFill>
                      <a:srgbClr val="162248"/>
                    </a:solidFill>
                  </a:tcPr>
                </a:tc>
                <a:tc>
                  <a:txBody>
                    <a:bodyPr/>
                    <a:lstStyle/>
                    <a:p>
                      <a:pPr algn="l"/>
                      <a:r>
                        <a:rPr sz="1000">
                          <a:solidFill>
                            <a:srgbClr val="8BA8C4"/>
                          </a:solidFill>
                          <a:latin typeface="Inter"/>
                        </a:rPr>
                        <a:t>Prevents Bedrosian envelope-carrier overlap errors.</a:t>
                      </a:r>
                    </a:p>
                  </a:txBody>
                  <a:tcPr marL="76200" marR="76200" marT="50800" marB="50800">
                    <a:solidFill>
                      <a:srgbClr val="162248"/>
                    </a:solidFill>
                  </a:tcPr>
                </a:tc>
              </a:tr>
              <a:tr h="497840">
                <a:tc>
                  <a:txBody>
                    <a:bodyPr/>
                    <a:lstStyle/>
                    <a:p>
                      <a:pPr algn="l"/>
                      <a:r>
                        <a:rPr sz="1000" b="1">
                          <a:solidFill>
                            <a:srgbClr val="E8F4F8"/>
                          </a:solidFill>
                          <a:latin typeface="Inter"/>
                        </a:rPr>
                        <a:t>3</a:t>
                      </a:r>
                    </a:p>
                  </a:txBody>
                  <a:tcPr marL="76200" marR="76200" marT="50800" marB="50800">
                    <a:solidFill>
                      <a:srgbClr val="111D3C"/>
                    </a:solidFill>
                  </a:tcPr>
                </a:tc>
                <a:tc>
                  <a:txBody>
                    <a:bodyPr/>
                    <a:lstStyle/>
                    <a:p>
                      <a:pPr algn="l"/>
                      <a:r>
                        <a:rPr sz="1000">
                          <a:solidFill>
                            <a:srgbClr val="8BA8C4"/>
                          </a:solidFill>
                          <a:latin typeface="Inter"/>
                        </a:rPr>
                        <a:t>Admissibility Mask</a:t>
                      </a:r>
                    </a:p>
                  </a:txBody>
                  <a:tcPr marL="76200" marR="76200" marT="50800" marB="50800">
                    <a:solidFill>
                      <a:srgbClr val="111D3C"/>
                    </a:solidFill>
                  </a:tcPr>
                </a:tc>
                <a:tc>
                  <a:txBody>
                    <a:bodyPr/>
                    <a:lstStyle/>
                    <a:p>
                      <a:pPr algn="l"/>
                      <a:r>
                        <a:rPr sz="1000">
                          <a:solidFill>
                            <a:srgbClr val="8BA8C4"/>
                          </a:solidFill>
                          <a:latin typeface="Inter"/>
                        </a:rPr>
                        <a:t>f_AM &lt; f_c explicit mathematical masking reported</a:t>
                      </a:r>
                    </a:p>
                  </a:txBody>
                  <a:tcPr marL="76200" marR="76200" marT="50800" marB="50800">
                    <a:solidFill>
                      <a:srgbClr val="111D3C"/>
                    </a:solidFill>
                  </a:tcPr>
                </a:tc>
                <a:tc>
                  <a:txBody>
                    <a:bodyPr/>
                    <a:lstStyle/>
                    <a:p>
                      <a:pPr algn="l"/>
                      <a:r>
                        <a:rPr sz="1000">
                          <a:solidFill>
                            <a:srgbClr val="8BA8C4"/>
                          </a:solidFill>
                          <a:latin typeface="Inter"/>
                        </a:rPr>
                        <a:t>Excludes unphysical spline overshoot artifacts from energy tallies.</a:t>
                      </a:r>
                    </a:p>
                  </a:txBody>
                  <a:tcPr marL="76200" marR="76200" marT="50800" marB="50800">
                    <a:solidFill>
                      <a:srgbClr val="111D3C"/>
                    </a:solidFill>
                  </a:tcPr>
                </a:tc>
              </a:tr>
              <a:tr h="497840">
                <a:tc>
                  <a:txBody>
                    <a:bodyPr/>
                    <a:lstStyle/>
                    <a:p>
                      <a:pPr algn="l"/>
                      <a:r>
                        <a:rPr sz="1000" b="1">
                          <a:solidFill>
                            <a:srgbClr val="E8F4F8"/>
                          </a:solidFill>
                          <a:latin typeface="Inter"/>
                        </a:rPr>
                        <a:t>4</a:t>
                      </a:r>
                    </a:p>
                  </a:txBody>
                  <a:tcPr marL="76200" marR="76200" marT="50800" marB="50800">
                    <a:solidFill>
                      <a:srgbClr val="162248"/>
                    </a:solidFill>
                  </a:tcPr>
                </a:tc>
                <a:tc>
                  <a:txBody>
                    <a:bodyPr/>
                    <a:lstStyle/>
                    <a:p>
                      <a:pPr algn="l"/>
                      <a:r>
                        <a:rPr sz="1000">
                          <a:solidFill>
                            <a:srgbClr val="8BA8C4"/>
                          </a:solidFill>
                          <a:latin typeface="Inter"/>
                        </a:rPr>
                        <a:t>Duration &amp; Resolvability</a:t>
                      </a:r>
                    </a:p>
                  </a:txBody>
                  <a:tcPr marL="76200" marR="76200" marT="50800" marB="50800">
                    <a:solidFill>
                      <a:srgbClr val="162248"/>
                    </a:solidFill>
                  </a:tcPr>
                </a:tc>
                <a:tc>
                  <a:txBody>
                    <a:bodyPr/>
                    <a:lstStyle/>
                    <a:p>
                      <a:pPr algn="l"/>
                      <a:r>
                        <a:rPr sz="1000">
                          <a:solidFill>
                            <a:srgbClr val="8BA8C4"/>
                          </a:solidFill>
                          <a:latin typeface="Inter"/>
                        </a:rPr>
                        <a:t>f_min = 3 / T reported; unresolvable low bins masked or greyed</a:t>
                      </a:r>
                    </a:p>
                  </a:txBody>
                  <a:tcPr marL="76200" marR="76200" marT="50800" marB="50800">
                    <a:solidFill>
                      <a:srgbClr val="162248"/>
                    </a:solidFill>
                  </a:tcPr>
                </a:tc>
                <a:tc>
                  <a:txBody>
                    <a:bodyPr/>
                    <a:lstStyle/>
                    <a:p>
                      <a:pPr algn="l"/>
                      <a:r>
                        <a:rPr sz="1000">
                          <a:solidFill>
                            <a:srgbClr val="8BA8C4"/>
                          </a:solidFill>
                          <a:latin typeface="Inter"/>
                        </a:rPr>
                        <a:t>Prevents spurious claims of slow rhythms (e.g. VLF) from short runs.</a:t>
                      </a:r>
                    </a:p>
                  </a:txBody>
                  <a:tcPr marL="76200" marR="76200" marT="50800" marB="50800">
                    <a:solidFill>
                      <a:srgbClr val="162248"/>
                    </a:solidFill>
                  </a:tcPr>
                </a:tc>
              </a:tr>
              <a:tr h="497840">
                <a:tc>
                  <a:txBody>
                    <a:bodyPr/>
                    <a:lstStyle/>
                    <a:p>
                      <a:pPr algn="l"/>
                      <a:r>
                        <a:rPr sz="1000" b="1">
                          <a:solidFill>
                            <a:srgbClr val="E8F4F8"/>
                          </a:solidFill>
                          <a:latin typeface="Inter"/>
                        </a:rPr>
                        <a:t>5</a:t>
                      </a:r>
                    </a:p>
                  </a:txBody>
                  <a:tcPr marL="76200" marR="76200" marT="50800" marB="50800">
                    <a:solidFill>
                      <a:srgbClr val="111D3C"/>
                    </a:solidFill>
                  </a:tcPr>
                </a:tc>
                <a:tc>
                  <a:txBody>
                    <a:bodyPr/>
                    <a:lstStyle/>
                    <a:p>
                      <a:pPr algn="l"/>
                      <a:r>
                        <a:rPr sz="1000">
                          <a:solidFill>
                            <a:srgbClr val="8BA8C4"/>
                          </a:solidFill>
                          <a:latin typeface="Inter"/>
                        </a:rPr>
                        <a:t>Boundary Protocol</a:t>
                      </a:r>
                    </a:p>
                  </a:txBody>
                  <a:tcPr marL="76200" marR="76200" marT="50800" marB="50800">
                    <a:solidFill>
                      <a:srgbClr val="111D3C"/>
                    </a:solidFill>
                  </a:tcPr>
                </a:tc>
                <a:tc>
                  <a:txBody>
                    <a:bodyPr/>
                    <a:lstStyle/>
                    <a:p>
                      <a:pPr algn="l"/>
                      <a:r>
                        <a:rPr sz="1000">
                          <a:solidFill>
                            <a:srgbClr val="8BA8C4"/>
                          </a:solidFill>
                          <a:latin typeface="Inter"/>
                        </a:rPr>
                        <a:t>Exact edge percentage/seconds trimmed from both ends</a:t>
                      </a:r>
                    </a:p>
                  </a:txBody>
                  <a:tcPr marL="76200" marR="76200" marT="50800" marB="50800">
                    <a:solidFill>
                      <a:srgbClr val="111D3C"/>
                    </a:solidFill>
                  </a:tcPr>
                </a:tc>
                <a:tc>
                  <a:txBody>
                    <a:bodyPr/>
                    <a:lstStyle/>
                    <a:p>
                      <a:pPr algn="l"/>
                      <a:r>
                        <a:rPr sz="1000">
                          <a:solidFill>
                            <a:srgbClr val="8BA8C4"/>
                          </a:solidFill>
                          <a:latin typeface="Inter"/>
                        </a:rPr>
                        <a:t>Eliminates cubic spline endpoint divergence from spectra.</a:t>
                      </a:r>
                    </a:p>
                  </a:txBody>
                  <a:tcPr marL="76200" marR="76200" marT="50800" marB="50800">
                    <a:solidFill>
                      <a:srgbClr val="111D3C"/>
                    </a:solidFill>
                  </a:tcPr>
                </a:tc>
              </a:tr>
              <a:tr h="497840">
                <a:tc>
                  <a:txBody>
                    <a:bodyPr/>
                    <a:lstStyle/>
                    <a:p>
                      <a:pPr algn="l"/>
                      <a:r>
                        <a:rPr sz="1000" b="1">
                          <a:solidFill>
                            <a:srgbClr val="E8F4F8"/>
                          </a:solidFill>
                          <a:latin typeface="Inter"/>
                        </a:rPr>
                        <a:t>6</a:t>
                      </a:r>
                    </a:p>
                  </a:txBody>
                  <a:tcPr marL="76200" marR="76200" marT="50800" marB="50800">
                    <a:solidFill>
                      <a:srgbClr val="162248"/>
                    </a:solidFill>
                  </a:tcPr>
                </a:tc>
                <a:tc>
                  <a:txBody>
                    <a:bodyPr/>
                    <a:lstStyle/>
                    <a:p>
                      <a:pPr algn="l"/>
                      <a:r>
                        <a:rPr sz="1000">
                          <a:solidFill>
                            <a:srgbClr val="8BA8C4"/>
                          </a:solidFill>
                          <a:latin typeface="Inter"/>
                        </a:rPr>
                        <a:t>Surrogate Null Testing</a:t>
                      </a:r>
                    </a:p>
                  </a:txBody>
                  <a:tcPr marL="76200" marR="76200" marT="50800" marB="50800">
                    <a:solidFill>
                      <a:srgbClr val="162248"/>
                    </a:solidFill>
                  </a:tcPr>
                </a:tc>
                <a:tc>
                  <a:txBody>
                    <a:bodyPr/>
                    <a:lstStyle/>
                    <a:p>
                      <a:pPr algn="l"/>
                      <a:r>
                        <a:rPr sz="1000">
                          <a:solidFill>
                            <a:srgbClr val="8BA8C4"/>
                          </a:solidFill>
                          <a:latin typeface="Inter"/>
                        </a:rPr>
                        <a:t>IAAFT phase-randomized or amplitude-adjusted surrogate statistics</a:t>
                      </a:r>
                    </a:p>
                  </a:txBody>
                  <a:tcPr marL="76200" marR="76200" marT="50800" marB="50800">
                    <a:solidFill>
                      <a:srgbClr val="162248"/>
                    </a:solidFill>
                  </a:tcPr>
                </a:tc>
                <a:tc>
                  <a:txBody>
                    <a:bodyPr/>
                    <a:lstStyle/>
                    <a:p>
                      <a:pPr algn="l"/>
                      <a:r>
                        <a:rPr sz="1000">
                          <a:solidFill>
                            <a:srgbClr val="8BA8C4"/>
                          </a:solidFill>
                          <a:latin typeface="Inter"/>
                        </a:rPr>
                        <a:t>Confirms AM coupling is not an artifact of stationary colored noise.</a:t>
                      </a:r>
                    </a:p>
                  </a:txBody>
                  <a:tcPr marL="76200" marR="76200" marT="50800" marB="50800">
                    <a:solidFill>
                      <a:srgbClr val="162248"/>
                    </a:solidFill>
                  </a:tcPr>
                </a:tc>
              </a:tr>
              <a:tr h="497840">
                <a:tc>
                  <a:txBody>
                    <a:bodyPr/>
                    <a:lstStyle/>
                    <a:p>
                      <a:pPr algn="l"/>
                      <a:r>
                        <a:rPr sz="1000" b="1">
                          <a:solidFill>
                            <a:srgbClr val="E8F4F8"/>
                          </a:solidFill>
                          <a:latin typeface="Inter"/>
                        </a:rPr>
                        <a:t>7</a:t>
                      </a:r>
                    </a:p>
                  </a:txBody>
                  <a:tcPr marL="76200" marR="76200" marT="50800" marB="50800">
                    <a:solidFill>
                      <a:srgbClr val="111D3C"/>
                    </a:solidFill>
                  </a:tcPr>
                </a:tc>
                <a:tc>
                  <a:txBody>
                    <a:bodyPr/>
                    <a:lstStyle/>
                    <a:p>
                      <a:pPr algn="l"/>
                      <a:r>
                        <a:rPr sz="1000">
                          <a:solidFill>
                            <a:srgbClr val="8BA8C4"/>
                          </a:solidFill>
                          <a:latin typeface="Inter"/>
                        </a:rPr>
                        <a:t>Ethical Provenance</a:t>
                      </a:r>
                    </a:p>
                  </a:txBody>
                  <a:tcPr marL="76200" marR="76200" marT="50800" marB="50800">
                    <a:solidFill>
                      <a:srgbClr val="111D3C"/>
                    </a:solidFill>
                  </a:tcPr>
                </a:tc>
                <a:tc>
                  <a:txBody>
                    <a:bodyPr/>
                    <a:lstStyle/>
                    <a:p>
                      <a:pPr algn="l"/>
                      <a:r>
                        <a:rPr sz="1000">
                          <a:solidFill>
                            <a:srgbClr val="8BA8C4"/>
                          </a:solidFill>
                          <a:latin typeface="Inter"/>
                        </a:rPr>
                        <a:t>Relative time axes (hours/seconds), de-identification, IRB consent</a:t>
                      </a:r>
                    </a:p>
                  </a:txBody>
                  <a:tcPr marL="76200" marR="76200" marT="50800" marB="50800">
                    <a:solidFill>
                      <a:srgbClr val="111D3C"/>
                    </a:solidFill>
                  </a:tcPr>
                </a:tc>
                <a:tc>
                  <a:txBody>
                    <a:bodyPr/>
                    <a:lstStyle/>
                    <a:p>
                      <a:pPr algn="l"/>
                      <a:r>
                        <a:rPr sz="1000">
                          <a:solidFill>
                            <a:srgbClr val="8BA8C4"/>
                          </a:solidFill>
                          <a:latin typeface="Inter"/>
                        </a:rPr>
                        <a:t>Guarantees privacy protection and data governance compliance.</a:t>
                      </a:r>
                    </a:p>
                  </a:txBody>
                  <a:tcPr marL="76200" marR="76200" marT="50800" marB="50800">
                    <a:solidFill>
                      <a:srgbClr val="111D3C"/>
                    </a:solidFill>
                  </a:tcPr>
                </a:tc>
              </a:tr>
              <a:tr h="497840">
                <a:tc>
                  <a:txBody>
                    <a:bodyPr/>
                    <a:lstStyle/>
                    <a:p>
                      <a:pPr algn="l"/>
                      <a:r>
                        <a:rPr sz="1000" b="1">
                          <a:solidFill>
                            <a:srgbClr val="E8F4F8"/>
                          </a:solidFill>
                          <a:latin typeface="Inter"/>
                        </a:rPr>
                        <a:t>8</a:t>
                      </a:r>
                    </a:p>
                  </a:txBody>
                  <a:tcPr marL="76200" marR="76200" marT="50800" marB="50800">
                    <a:solidFill>
                      <a:srgbClr val="162248"/>
                    </a:solidFill>
                  </a:tcPr>
                </a:tc>
                <a:tc>
                  <a:txBody>
                    <a:bodyPr/>
                    <a:lstStyle/>
                    <a:p>
                      <a:pPr algn="l"/>
                      <a:r>
                        <a:rPr sz="1000">
                          <a:solidFill>
                            <a:srgbClr val="8BA8C4"/>
                          </a:solidFill>
                          <a:latin typeface="Inter"/>
                        </a:rPr>
                        <a:t>Code &amp; Tensor Sharing</a:t>
                      </a:r>
                    </a:p>
                  </a:txBody>
                  <a:tcPr marL="76200" marR="76200" marT="50800" marB="50800">
                    <a:solidFill>
                      <a:srgbClr val="162248"/>
                    </a:solidFill>
                  </a:tcPr>
                </a:tc>
                <a:tc>
                  <a:txBody>
                    <a:bodyPr/>
                    <a:lstStyle/>
                    <a:p>
                      <a:pPr algn="l"/>
                      <a:r>
                        <a:rPr sz="1000">
                          <a:solidFill>
                            <a:srgbClr val="8BA8C4"/>
                          </a:solidFill>
                          <a:latin typeface="Inter"/>
                        </a:rPr>
                        <a:t>Open-source code, environment version lock, coordinate tensors</a:t>
                      </a:r>
                    </a:p>
                  </a:txBody>
                  <a:tcPr marL="76200" marR="76200" marT="50800" marB="50800">
                    <a:solidFill>
                      <a:srgbClr val="162248"/>
                    </a:solidFill>
                  </a:tcPr>
                </a:tc>
                <a:tc>
                  <a:txBody>
                    <a:bodyPr/>
                    <a:lstStyle/>
                    <a:p>
                      <a:pPr algn="l"/>
                      <a:r>
                        <a:rPr sz="1000">
                          <a:solidFill>
                            <a:srgbClr val="8BA8C4"/>
                          </a:solidFill>
                          <a:latin typeface="Inter"/>
                        </a:rPr>
                        <a:t>Allows complete independent scientific verification.</a:t>
                      </a:r>
                    </a:p>
                  </a:txBody>
                  <a:tcPr marL="76200" marR="76200" marT="50800" marB="50800">
                    <a:solidFill>
                      <a:srgbClr val="162248"/>
                    </a:solidFill>
                  </a:tcPr>
                </a:tc>
              </a:tr>
            </a:tbl>
          </a:graphicData>
        </a:graphic>
      </p:graphicFrame>
      <p:sp>
        <p:nvSpPr>
          <p:cNvPr id="8" name="TextBox 7"/>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9" name="TextBox 8"/>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17 of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A78BFA"/>
                </a:solidFill>
                <a:latin typeface="Consolas"/>
              </a:rPr>
              <a:t>L</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§5 Software Architecture • Open Science</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18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Open Architecture &amp; Reproducibility Pipeline</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Zero unmaintained dependencies: pure Python standard library + NumPy + SciPy</a:t>
            </a:r>
          </a:p>
        </p:txBody>
      </p:sp>
      <p:sp>
        <p:nvSpPr>
          <p:cNvPr id="7" name="Rounded Rectangle 6"/>
          <p:cNvSpPr/>
          <p:nvPr/>
        </p:nvSpPr>
        <p:spPr>
          <a:xfrm>
            <a:off x="457200"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828800"/>
            <a:ext cx="1280160" cy="274320"/>
          </a:xfrm>
          <a:prstGeom prst="roundRect">
            <a:avLst>
              <a:gd name="adj" fmla="val 30000"/>
            </a:avLst>
          </a:prstGeom>
          <a:solidFill>
            <a:srgbClr val="162248"/>
          </a:solidFill>
          <a:ln w="9525">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50" b="1">
                <a:solidFill>
                  <a:srgbClr val="4DD9CF"/>
                </a:solidFill>
                <a:latin typeface="Consolas"/>
              </a:rPr>
              <a:t>Compute Tier</a:t>
            </a:r>
          </a:p>
        </p:txBody>
      </p:sp>
      <p:sp>
        <p:nvSpPr>
          <p:cNvPr id="9" name="TextBox 8"/>
          <p:cNvSpPr txBox="1"/>
          <p:nvPr/>
        </p:nvSpPr>
        <p:spPr>
          <a:xfrm>
            <a:off x="594360" y="2167128"/>
            <a:ext cx="3337560" cy="411480"/>
          </a:xfrm>
          <a:prstGeom prst="rect">
            <a:avLst/>
          </a:prstGeom>
          <a:noFill/>
        </p:spPr>
        <p:txBody>
          <a:bodyPr wrap="square" anchor="t" lIns="50800" rIns="50800" tIns="25400" bIns="25400">
            <a:spAutoFit/>
          </a:bodyPr>
          <a:lstStyle/>
          <a:p>
            <a:pPr algn="l">
              <a:lnSpc>
                <a:spcPct val="115000"/>
              </a:lnSpc>
            </a:pPr>
            <a:r>
              <a:rPr sz="1350" b="1" i="0">
                <a:solidFill>
                  <a:srgbClr val="E8F4F8"/>
                </a:solidFill>
                <a:latin typeface="Inter"/>
              </a:rPr>
              <a:t>🐍 Python Core</a:t>
            </a:r>
          </a:p>
        </p:txBody>
      </p:sp>
      <p:sp>
        <p:nvSpPr>
          <p:cNvPr id="10" name="TextBox 9"/>
          <p:cNvSpPr txBox="1"/>
          <p:nvPr/>
        </p:nvSpPr>
        <p:spPr>
          <a:xfrm>
            <a:off x="594360" y="2651760"/>
            <a:ext cx="3337560" cy="502920"/>
          </a:xfrm>
          <a:prstGeom prst="rect">
            <a:avLst/>
          </a:prstGeom>
          <a:noFill/>
        </p:spPr>
        <p:txBody>
          <a:bodyPr wrap="square" anchor="t" lIns="50800" rIns="50800" tIns="25400" bIns="25400">
            <a:spAutoFit/>
          </a:bodyPr>
          <a:lstStyle/>
          <a:p>
            <a:pPr algn="l">
              <a:lnSpc>
                <a:spcPct val="115000"/>
              </a:lnSpc>
            </a:pPr>
            <a:r>
              <a:rPr sz="1200" b="1" i="0">
                <a:solidFill>
                  <a:srgbClr val="E8F4F8"/>
                </a:solidFill>
                <a:latin typeface="Inter"/>
              </a:rPr>
              <a:t>Pure stdlib + numpy + scipy: Custom vectorized implementation of two-layer sifting.</a:t>
            </a:r>
          </a:p>
        </p:txBody>
      </p:sp>
      <p:sp>
        <p:nvSpPr>
          <p:cNvPr id="11" name="TextBox 10"/>
          <p:cNvSpPr txBox="1"/>
          <p:nvPr/>
        </p:nvSpPr>
        <p:spPr>
          <a:xfrm>
            <a:off x="594360" y="3154680"/>
            <a:ext cx="3337560" cy="137160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No unmaintained wrappers (no PyEMD, no closed toolboxes).</a:t>
            </a:r>
          </a:p>
          <a:p>
            <a:pPr algn="l">
              <a:lnSpc>
                <a:spcPct val="115000"/>
              </a:lnSpc>
              <a:spcAft>
                <a:spcPts val="600"/>
              </a:spcAft>
            </a:pPr>
            <a:r>
              <a:rPr sz="1150">
                <a:solidFill>
                  <a:srgbClr val="4DD9CF"/>
                </a:solidFill>
                <a:latin typeface="Inter"/>
              </a:rPr>
              <a:t>• </a:t>
            </a:r>
            <a:r>
              <a:rPr sz="1150">
                <a:solidFill>
                  <a:srgbClr val="8BA8C4"/>
                </a:solidFill>
                <a:latin typeface="Inter"/>
              </a:rPr>
              <a:t>Dense float16 Base64 and sparse Top-K JSON exporters.</a:t>
            </a:r>
          </a:p>
          <a:p>
            <a:pPr algn="l">
              <a:lnSpc>
                <a:spcPct val="115000"/>
              </a:lnSpc>
              <a:spcAft>
                <a:spcPts val="600"/>
              </a:spcAft>
            </a:pPr>
            <a:r>
              <a:rPr sz="1150">
                <a:solidFill>
                  <a:srgbClr val="4DD9CF"/>
                </a:solidFill>
                <a:latin typeface="Inter"/>
              </a:rPr>
              <a:t>• </a:t>
            </a:r>
            <a:r>
              <a:rPr sz="1150">
                <a:solidFill>
                  <a:srgbClr val="8BA8C4"/>
                </a:solidFill>
                <a:latin typeface="Inter"/>
              </a:rPr>
              <a:t>All 5 cubes generated under 20 KB per JSON file.</a:t>
            </a:r>
          </a:p>
        </p:txBody>
      </p:sp>
      <p:sp>
        <p:nvSpPr>
          <p:cNvPr id="12" name="Rounded Rectangle 11"/>
          <p:cNvSpPr/>
          <p:nvPr/>
        </p:nvSpPr>
        <p:spPr>
          <a:xfrm>
            <a:off x="4288536"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25696" y="1828800"/>
            <a:ext cx="1280160" cy="274320"/>
          </a:xfrm>
          <a:prstGeom prst="roundRect">
            <a:avLst>
              <a:gd name="adj" fmla="val 30000"/>
            </a:avLst>
          </a:prstGeom>
          <a:solidFill>
            <a:srgbClr val="162248"/>
          </a:solidFill>
          <a:ln w="952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50" b="1">
                <a:solidFill>
                  <a:srgbClr val="F4A261"/>
                </a:solidFill>
                <a:latin typeface="Consolas"/>
              </a:rPr>
              <a:t>Asset Tier</a:t>
            </a:r>
          </a:p>
        </p:txBody>
      </p:sp>
      <p:sp>
        <p:nvSpPr>
          <p:cNvPr id="14" name="TextBox 13"/>
          <p:cNvSpPr txBox="1"/>
          <p:nvPr/>
        </p:nvSpPr>
        <p:spPr>
          <a:xfrm>
            <a:off x="4425696" y="2167128"/>
            <a:ext cx="3337560" cy="411480"/>
          </a:xfrm>
          <a:prstGeom prst="rect">
            <a:avLst/>
          </a:prstGeom>
          <a:noFill/>
        </p:spPr>
        <p:txBody>
          <a:bodyPr wrap="square" anchor="t" lIns="50800" rIns="50800" tIns="25400" bIns="25400">
            <a:spAutoFit/>
          </a:bodyPr>
          <a:lstStyle/>
          <a:p>
            <a:pPr algn="l">
              <a:lnSpc>
                <a:spcPct val="115000"/>
              </a:lnSpc>
            </a:pPr>
            <a:r>
              <a:rPr sz="1350" b="1" i="0">
                <a:solidFill>
                  <a:srgbClr val="E8F4F8"/>
                </a:solidFill>
                <a:latin typeface="Inter"/>
              </a:rPr>
              <a:t>🎨 Headless Blender</a:t>
            </a:r>
          </a:p>
        </p:txBody>
      </p:sp>
      <p:sp>
        <p:nvSpPr>
          <p:cNvPr id="15" name="TextBox 14"/>
          <p:cNvSpPr txBox="1"/>
          <p:nvPr/>
        </p:nvSpPr>
        <p:spPr>
          <a:xfrm>
            <a:off x="4425696" y="2651760"/>
            <a:ext cx="3337560" cy="502920"/>
          </a:xfrm>
          <a:prstGeom prst="rect">
            <a:avLst/>
          </a:prstGeom>
          <a:noFill/>
        </p:spPr>
        <p:txBody>
          <a:bodyPr wrap="square" anchor="t" lIns="50800" rIns="50800" tIns="25400" bIns="25400">
            <a:spAutoFit/>
          </a:bodyPr>
          <a:lstStyle/>
          <a:p>
            <a:pPr algn="l">
              <a:lnSpc>
                <a:spcPct val="115000"/>
              </a:lnSpc>
            </a:pPr>
            <a:r>
              <a:rPr sz="1200" b="1" i="0">
                <a:solidFill>
                  <a:srgbClr val="E8F4F8"/>
                </a:solidFill>
                <a:latin typeface="Inter"/>
              </a:rPr>
              <a:t>Blender 4.5 Python Builder: Programmatic procedural coordinate rig generation.</a:t>
            </a:r>
          </a:p>
        </p:txBody>
      </p:sp>
      <p:sp>
        <p:nvSpPr>
          <p:cNvPr id="16" name="TextBox 15"/>
          <p:cNvSpPr txBox="1"/>
          <p:nvPr/>
        </p:nvSpPr>
        <p:spPr>
          <a:xfrm>
            <a:off x="4425696" y="3154680"/>
            <a:ext cx="3337560" cy="137160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Emissive teal axis lines and wireframe bounding boxes.</a:t>
            </a:r>
          </a:p>
          <a:p>
            <a:pPr algn="l">
              <a:lnSpc>
                <a:spcPct val="115000"/>
              </a:lnSpc>
              <a:spcAft>
                <a:spcPts val="600"/>
              </a:spcAft>
            </a:pPr>
            <a:r>
              <a:rPr sz="1150">
                <a:solidFill>
                  <a:srgbClr val="4DD9CF"/>
                </a:solidFill>
                <a:latin typeface="Inter"/>
              </a:rPr>
              <a:t>• </a:t>
            </a:r>
            <a:r>
              <a:rPr sz="1150">
                <a:solidFill>
                  <a:srgbClr val="8BA8C4"/>
                </a:solidFill>
                <a:latin typeface="Inter"/>
              </a:rPr>
              <a:t>Translucent glass band slabs (Circadian, Ultradian, LF, HF).</a:t>
            </a:r>
          </a:p>
          <a:p>
            <a:pPr algn="l">
              <a:lnSpc>
                <a:spcPct val="115000"/>
              </a:lnSpc>
              <a:spcAft>
                <a:spcPts val="600"/>
              </a:spcAft>
            </a:pPr>
            <a:r>
              <a:rPr sz="1150">
                <a:solidFill>
                  <a:srgbClr val="4DD9CF"/>
                </a:solidFill>
                <a:latin typeface="Inter"/>
              </a:rPr>
              <a:t>• </a:t>
            </a:r>
            <a:r>
              <a:rPr sz="1150">
                <a:solidFill>
                  <a:srgbClr val="8BA8C4"/>
                </a:solidFill>
                <a:latin typeface="Inter"/>
              </a:rPr>
              <a:t>Exports lightweight, production-ready .glb assets.</a:t>
            </a:r>
          </a:p>
        </p:txBody>
      </p:sp>
      <p:sp>
        <p:nvSpPr>
          <p:cNvPr id="17" name="Rounded Rectangle 16"/>
          <p:cNvSpPr/>
          <p:nvPr/>
        </p:nvSpPr>
        <p:spPr>
          <a:xfrm>
            <a:off x="8119872"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57032" y="1828800"/>
            <a:ext cx="1280160" cy="274320"/>
          </a:xfrm>
          <a:prstGeom prst="roundRect">
            <a:avLst>
              <a:gd name="adj" fmla="val 30000"/>
            </a:avLst>
          </a:prstGeom>
          <a:solidFill>
            <a:srgbClr val="16224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50" b="1">
                <a:solidFill>
                  <a:srgbClr val="A78BFA"/>
                </a:solidFill>
                <a:latin typeface="Consolas"/>
              </a:rPr>
              <a:t>Presentation Tier</a:t>
            </a:r>
          </a:p>
        </p:txBody>
      </p:sp>
      <p:sp>
        <p:nvSpPr>
          <p:cNvPr id="19" name="TextBox 18"/>
          <p:cNvSpPr txBox="1"/>
          <p:nvPr/>
        </p:nvSpPr>
        <p:spPr>
          <a:xfrm>
            <a:off x="8257032" y="2167128"/>
            <a:ext cx="3337560" cy="411480"/>
          </a:xfrm>
          <a:prstGeom prst="rect">
            <a:avLst/>
          </a:prstGeom>
          <a:noFill/>
        </p:spPr>
        <p:txBody>
          <a:bodyPr wrap="square" anchor="t" lIns="50800" rIns="50800" tIns="25400" bIns="25400">
            <a:spAutoFit/>
          </a:bodyPr>
          <a:lstStyle/>
          <a:p>
            <a:pPr algn="l">
              <a:lnSpc>
                <a:spcPct val="115000"/>
              </a:lnSpc>
            </a:pPr>
            <a:r>
              <a:rPr sz="1350" b="1" i="0">
                <a:solidFill>
                  <a:srgbClr val="E8F4F8"/>
                </a:solidFill>
                <a:latin typeface="Inter"/>
              </a:rPr>
              <a:t>🌐 Three.js WebGL</a:t>
            </a:r>
          </a:p>
        </p:txBody>
      </p:sp>
      <p:sp>
        <p:nvSpPr>
          <p:cNvPr id="20" name="TextBox 19"/>
          <p:cNvSpPr txBox="1"/>
          <p:nvPr/>
        </p:nvSpPr>
        <p:spPr>
          <a:xfrm>
            <a:off x="8257032" y="2651760"/>
            <a:ext cx="3337560" cy="502920"/>
          </a:xfrm>
          <a:prstGeom prst="rect">
            <a:avLst/>
          </a:prstGeom>
          <a:noFill/>
        </p:spPr>
        <p:txBody>
          <a:bodyPr wrap="square" anchor="t" lIns="50800" rIns="50800" tIns="25400" bIns="25400">
            <a:spAutoFit/>
          </a:bodyPr>
          <a:lstStyle/>
          <a:p>
            <a:pPr algn="l">
              <a:lnSpc>
                <a:spcPct val="115000"/>
              </a:lnSpc>
            </a:pPr>
            <a:r>
              <a:rPr sz="1200" b="1" i="0">
                <a:solidFill>
                  <a:srgbClr val="E8F4F8"/>
                </a:solidFill>
                <a:latin typeface="Inter"/>
              </a:rPr>
              <a:t>Interactive WebGL Suite: Zero-installation browser explorer using pinned CDN modules.</a:t>
            </a:r>
          </a:p>
        </p:txBody>
      </p:sp>
      <p:sp>
        <p:nvSpPr>
          <p:cNvPr id="21" name="TextBox 20"/>
          <p:cNvSpPr txBox="1"/>
          <p:nvPr/>
        </p:nvSpPr>
        <p:spPr>
          <a:xfrm>
            <a:off x="8257032" y="3154680"/>
            <a:ext cx="3337560" cy="137160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b="1">
                <a:solidFill>
                  <a:srgbClr val="E8F4F8"/>
                </a:solidFill>
                <a:latin typeface="Inter"/>
              </a:rPr>
              <a:t>Live dynamic slicing:</a:t>
            </a:r>
            <a:r>
              <a:rPr sz="1150">
                <a:solidFill>
                  <a:srgbClr val="8BA8C4"/>
                </a:solidFill>
                <a:latin typeface="Inter"/>
              </a:rPr>
              <a:t> S(t,fc), C(fc,fam), M(t,fam).</a:t>
            </a:r>
          </a:p>
          <a:p>
            <a:pPr algn="l">
              <a:lnSpc>
                <a:spcPct val="115000"/>
              </a:lnSpc>
              <a:spcAft>
                <a:spcPts val="600"/>
              </a:spcAft>
            </a:pPr>
            <a:r>
              <a:rPr sz="1150">
                <a:solidFill>
                  <a:srgbClr val="4DD9CF"/>
                </a:solidFill>
                <a:latin typeface="Inter"/>
              </a:rPr>
              <a:t>• </a:t>
            </a:r>
            <a:r>
              <a:rPr sz="1150">
                <a:solidFill>
                  <a:srgbClr val="8BA8C4"/>
                </a:solidFill>
                <a:latin typeface="Inter"/>
              </a:rPr>
              <a:t>Admissibility plane toggle and 3/T grey-hatching.</a:t>
            </a:r>
          </a:p>
          <a:p>
            <a:pPr algn="l">
              <a:lnSpc>
                <a:spcPct val="115000"/>
              </a:lnSpc>
              <a:spcAft>
                <a:spcPts val="600"/>
              </a:spcAft>
            </a:pPr>
            <a:r>
              <a:rPr sz="1150">
                <a:solidFill>
                  <a:srgbClr val="4DD9CF"/>
                </a:solidFill>
                <a:latin typeface="Inter"/>
              </a:rPr>
              <a:t>• </a:t>
            </a:r>
            <a:r>
              <a:rPr sz="1150">
                <a:solidFill>
                  <a:srgbClr val="8BA8C4"/>
                </a:solidFill>
                <a:latin typeface="Inter"/>
              </a:rPr>
              <a:t>Mobile-friendly drawer UI with dual frequency-period axes.</a:t>
            </a:r>
          </a:p>
        </p:txBody>
      </p:sp>
      <p:sp>
        <p:nvSpPr>
          <p:cNvPr id="22" name="Rounded Rectangle 21"/>
          <p:cNvSpPr/>
          <p:nvPr/>
        </p:nvSpPr>
        <p:spPr>
          <a:xfrm>
            <a:off x="457200" y="5440680"/>
            <a:ext cx="11277295" cy="822960"/>
          </a:xfrm>
          <a:prstGeom prst="roundRect">
            <a:avLst>
              <a:gd name="adj" fmla="val 3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532120"/>
            <a:ext cx="10911535" cy="64008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GitHub Staging Repository: kidney-cognition-lab/hhsa-3d • Openly staged for scientific peer review</a:t>
            </a:r>
          </a:p>
        </p:txBody>
      </p:sp>
      <p:sp>
        <p:nvSpPr>
          <p:cNvPr id="24" name="TextBox 23"/>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25" name="TextBox 24"/>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18 of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A78BFA"/>
                </a:solidFill>
                <a:latin typeface="Consolas"/>
              </a:rPr>
              <a:t>L</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§6 Future Directions • Clinical Vision</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19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Outlook: Wearables, Multimodal Cubes, &amp; Aging Cohorts</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Translating Holo-Hilbert analytics from desktop workstations to clinical longitudinal trials</a:t>
            </a:r>
          </a:p>
        </p:txBody>
      </p:sp>
      <p:sp>
        <p:nvSpPr>
          <p:cNvPr id="7" name="Rounded Rectangle 6"/>
          <p:cNvSpPr/>
          <p:nvPr/>
        </p:nvSpPr>
        <p:spPr>
          <a:xfrm>
            <a:off x="457200"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Edge Computing</a:t>
            </a:r>
          </a:p>
        </p:txBody>
      </p:sp>
      <p:sp>
        <p:nvSpPr>
          <p:cNvPr id="9" name="TextBox 8"/>
          <p:cNvSpPr txBox="1"/>
          <p:nvPr/>
        </p:nvSpPr>
        <p:spPr>
          <a:xfrm>
            <a:off x="594360"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Wearable Microcontrollers: Developing optimized integer-arithmetic EMD algorithms to run directly on smartwatches and smart rings.</a:t>
            </a:r>
          </a:p>
        </p:txBody>
      </p:sp>
      <p:sp>
        <p:nvSpPr>
          <p:cNvPr id="10" name="TextBox 9"/>
          <p:cNvSpPr txBox="1"/>
          <p:nvPr/>
        </p:nvSpPr>
        <p:spPr>
          <a:xfrm>
            <a:off x="594360"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Real-time autonomous baroreflex monitoring on edge devices.</a:t>
            </a:r>
          </a:p>
          <a:p>
            <a:pPr algn="l">
              <a:lnSpc>
                <a:spcPct val="115000"/>
              </a:lnSpc>
              <a:spcAft>
                <a:spcPts val="600"/>
              </a:spcAft>
            </a:pPr>
            <a:r>
              <a:rPr sz="1150">
                <a:solidFill>
                  <a:srgbClr val="4DD9CF"/>
                </a:solidFill>
                <a:latin typeface="Inter"/>
              </a:rPr>
              <a:t>• </a:t>
            </a:r>
            <a:r>
              <a:rPr sz="1150">
                <a:solidFill>
                  <a:srgbClr val="8BA8C4"/>
                </a:solidFill>
                <a:latin typeface="Inter"/>
              </a:rPr>
              <a:t>Low-latency biofeedback alerting patients to autonomic stress.</a:t>
            </a:r>
          </a:p>
        </p:txBody>
      </p:sp>
      <p:sp>
        <p:nvSpPr>
          <p:cNvPr id="11" name="Rounded Rectangle 10"/>
          <p:cNvSpPr/>
          <p:nvPr/>
        </p:nvSpPr>
        <p:spPr>
          <a:xfrm>
            <a:off x="4288536"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25696"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Synchronous Multimodal Cubes</a:t>
            </a:r>
          </a:p>
        </p:txBody>
      </p:sp>
      <p:sp>
        <p:nvSpPr>
          <p:cNvPr id="13" name="TextBox 12"/>
          <p:cNvSpPr txBox="1"/>
          <p:nvPr/>
        </p:nvSpPr>
        <p:spPr>
          <a:xfrm>
            <a:off x="4425696"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Brain–Heart–Metabolic Tensors: Building unified data cubes from synchronized 24-h EEG, wearable PPG, and interstitial CGM.</a:t>
            </a:r>
          </a:p>
        </p:txBody>
      </p:sp>
      <p:sp>
        <p:nvSpPr>
          <p:cNvPr id="14" name="TextBox 13"/>
          <p:cNvSpPr txBox="1"/>
          <p:nvPr/>
        </p:nvSpPr>
        <p:spPr>
          <a:xfrm>
            <a:off x="4425696"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Quantifies sleep-stage regulation of autonomic tone and glucose.</a:t>
            </a:r>
          </a:p>
          <a:p>
            <a:pPr algn="l">
              <a:lnSpc>
                <a:spcPct val="115000"/>
              </a:lnSpc>
              <a:spcAft>
                <a:spcPts val="600"/>
              </a:spcAft>
            </a:pPr>
            <a:r>
              <a:rPr sz="1150">
                <a:solidFill>
                  <a:srgbClr val="4DD9CF"/>
                </a:solidFill>
                <a:latin typeface="Inter"/>
              </a:rPr>
              <a:t>• </a:t>
            </a:r>
            <a:r>
              <a:rPr sz="1150">
                <a:solidFill>
                  <a:srgbClr val="8BA8C4"/>
                </a:solidFill>
                <a:latin typeface="Inter"/>
              </a:rPr>
              <a:t>Provides multi-organ network resilience indices.</a:t>
            </a:r>
          </a:p>
        </p:txBody>
      </p:sp>
      <p:sp>
        <p:nvSpPr>
          <p:cNvPr id="15" name="Rounded Rectangle 14"/>
          <p:cNvSpPr/>
          <p:nvPr/>
        </p:nvSpPr>
        <p:spPr>
          <a:xfrm>
            <a:off x="8119872" y="1691640"/>
            <a:ext cx="3611880" cy="35661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57032" y="1828800"/>
            <a:ext cx="3337560" cy="384048"/>
          </a:xfrm>
          <a:prstGeom prst="roundRect">
            <a:avLst>
              <a:gd name="adj" fmla="val 20000"/>
            </a:avLst>
          </a:prstGeom>
          <a:solidFill>
            <a:srgbClr val="162248"/>
          </a:solidFill>
          <a:ln w="6350">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4DD9CF"/>
                </a:solidFill>
              </a:rPr>
              <a:t>🧬  Longitudinal Aging Cohorts</a:t>
            </a:r>
          </a:p>
        </p:txBody>
      </p:sp>
      <p:sp>
        <p:nvSpPr>
          <p:cNvPr id="17" name="TextBox 16"/>
          <p:cNvSpPr txBox="1"/>
          <p:nvPr/>
        </p:nvSpPr>
        <p:spPr>
          <a:xfrm>
            <a:off x="8257032" y="2313432"/>
            <a:ext cx="3337560" cy="1005840"/>
          </a:xfrm>
          <a:prstGeom prst="rect">
            <a:avLst/>
          </a:prstGeom>
          <a:noFill/>
        </p:spPr>
        <p:txBody>
          <a:bodyPr wrap="square" anchor="t" lIns="50800" rIns="50800" tIns="25400" bIns="25400">
            <a:spAutoFit/>
          </a:bodyPr>
          <a:lstStyle/>
          <a:p>
            <a:pPr algn="l">
              <a:lnSpc>
                <a:spcPct val="115000"/>
              </a:lnSpc>
            </a:pPr>
            <a:r>
              <a:rPr sz="1200" b="0" i="0">
                <a:solidFill>
                  <a:srgbClr val="E8F4F8"/>
                </a:solidFill>
                <a:latin typeface="Inter"/>
              </a:rPr>
              <a:t>Digital Biomarkers of Frailty: Tracking progressive loss of cross-frequency modulation complexity across decades.</a:t>
            </a:r>
          </a:p>
        </p:txBody>
      </p:sp>
      <p:sp>
        <p:nvSpPr>
          <p:cNvPr id="18" name="TextBox 17"/>
          <p:cNvSpPr txBox="1"/>
          <p:nvPr/>
        </p:nvSpPr>
        <p:spPr>
          <a:xfrm>
            <a:off x="8257032" y="3383280"/>
            <a:ext cx="3337560" cy="1737360"/>
          </a:xfrm>
          <a:prstGeom prst="rect">
            <a:avLst/>
          </a:prstGeom>
          <a:noFill/>
        </p:spPr>
        <p:txBody>
          <a:bodyPr wrap="square" anchor="t" lIns="50800" rIns="50800" tIns="25400" bIns="25400">
            <a:normAutofit/>
          </a:bodyPr>
          <a:lstStyle/>
          <a:p>
            <a:pPr algn="l">
              <a:lnSpc>
                <a:spcPct val="115000"/>
              </a:lnSpc>
              <a:spcAft>
                <a:spcPts val="600"/>
              </a:spcAft>
            </a:pPr>
            <a:r>
              <a:rPr sz="1150">
                <a:solidFill>
                  <a:srgbClr val="4DD9CF"/>
                </a:solidFill>
                <a:latin typeface="Inter"/>
              </a:rPr>
              <a:t>• </a:t>
            </a:r>
            <a:r>
              <a:rPr sz="1150">
                <a:solidFill>
                  <a:srgbClr val="8BA8C4"/>
                </a:solidFill>
                <a:latin typeface="Inter"/>
              </a:rPr>
              <a:t>Detects microvascular frailty before irreversible clinical dementia.</a:t>
            </a:r>
          </a:p>
          <a:p>
            <a:pPr algn="l">
              <a:lnSpc>
                <a:spcPct val="115000"/>
              </a:lnSpc>
              <a:spcAft>
                <a:spcPts val="600"/>
              </a:spcAft>
            </a:pPr>
            <a:r>
              <a:rPr sz="1150">
                <a:solidFill>
                  <a:srgbClr val="4DD9CF"/>
                </a:solidFill>
                <a:latin typeface="Inter"/>
              </a:rPr>
              <a:t>• </a:t>
            </a:r>
            <a:r>
              <a:rPr sz="1150">
                <a:solidFill>
                  <a:srgbClr val="8BA8C4"/>
                </a:solidFill>
                <a:latin typeface="Inter"/>
              </a:rPr>
              <a:t>Establishes quantitative endpoints for lifestyle interventions.</a:t>
            </a:r>
          </a:p>
        </p:txBody>
      </p:sp>
      <p:sp>
        <p:nvSpPr>
          <p:cNvPr id="19" name="Rounded Rectangle 18"/>
          <p:cNvSpPr/>
          <p:nvPr/>
        </p:nvSpPr>
        <p:spPr>
          <a:xfrm>
            <a:off x="457200" y="5394960"/>
            <a:ext cx="11277295" cy="868680"/>
          </a:xfrm>
          <a:prstGeom prst="roundRect">
            <a:avLst>
              <a:gd name="adj" fmla="val 2000"/>
            </a:avLst>
          </a:prstGeom>
          <a:solidFill>
            <a:srgbClr val="162248"/>
          </a:solidFill>
          <a:ln w="1524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50800" bIns="50800"/>
          <a:lstStyle/>
          <a:p>
            <a:pPr algn="ctr">
              <a:lnSpc>
                <a:spcPct val="110000"/>
              </a:lnSpc>
            </a:pPr>
            <a:r>
              <a:rPr b="1" sz="1250">
                <a:solidFill>
                  <a:srgbClr val="4DD9CF"/>
                </a:solidFill>
                <a:latin typeface="Inter"/>
              </a:rPr>
              <a:t>The Ultimate Goal: </a:t>
            </a:r>
            <a:r>
              <a:rPr sz="1250">
                <a:solidFill>
                  <a:srgbClr val="E8F4F8"/>
                </a:solidFill>
                <a:latin typeface="Consolas"/>
              </a:rPr>
              <a:t>Transforming raw, non-stationary physiological streams into actionable multi-scale digital biomarkers for healthy longevity.</a:t>
            </a:r>
          </a:p>
        </p:txBody>
      </p:sp>
      <p:sp>
        <p:nvSpPr>
          <p:cNvPr id="20" name="TextBox 19"/>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21" name="TextBox 20"/>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19 of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ounded Rectangle 1"/>
          <p:cNvSpPr/>
          <p:nvPr/>
        </p:nvSpPr>
        <p:spPr>
          <a:xfrm>
            <a:off x="457200" y="347472"/>
            <a:ext cx="1097280" cy="292608"/>
          </a:xfrm>
          <a:prstGeom prst="roundRect">
            <a:avLst>
              <a:gd name="adj" fmla="val 30000"/>
            </a:avLst>
          </a:prstGeom>
          <a:solidFill>
            <a:srgbClr val="0A0F1E"/>
          </a:solidFill>
          <a:ln w="12700">
            <a:solidFill>
              <a:srgbClr val="4DD9C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4DD9CF"/>
                </a:solidFill>
                <a:latin typeface="Consolas"/>
              </a:rPr>
              <a:t>—</a:t>
            </a:r>
          </a:p>
        </p:txBody>
      </p:sp>
      <p:sp>
        <p:nvSpPr>
          <p:cNvPr id="3" name="TextBox 2"/>
          <p:cNvSpPr txBox="1"/>
          <p:nvPr/>
        </p:nvSpPr>
        <p:spPr>
          <a:xfrm>
            <a:off x="1691640" y="347472"/>
            <a:ext cx="7772400" cy="292608"/>
          </a:xfrm>
          <a:prstGeom prst="rect">
            <a:avLst/>
          </a:prstGeom>
          <a:noFill/>
        </p:spPr>
        <p:txBody>
          <a:bodyPr wrap="square" anchor="t" lIns="50800" rIns="50800" tIns="25400" bIns="25400">
            <a:spAutoFit/>
          </a:bodyPr>
          <a:lstStyle/>
          <a:p>
            <a:pPr algn="l">
              <a:lnSpc>
                <a:spcPct val="115000"/>
              </a:lnSpc>
            </a:pPr>
            <a:r>
              <a:rPr sz="1150" b="0" i="1">
                <a:solidFill>
                  <a:srgbClr val="8BA8C4"/>
                </a:solidFill>
                <a:latin typeface="Inter"/>
              </a:rPr>
              <a:t>§7 Summary &amp; Resources • Kidney &amp; Cognition Lab</a:t>
            </a:r>
          </a:p>
        </p:txBody>
      </p:sp>
      <p:sp>
        <p:nvSpPr>
          <p:cNvPr id="4" name="Rounded Rectangle 3"/>
          <p:cNvSpPr/>
          <p:nvPr/>
        </p:nvSpPr>
        <p:spPr>
          <a:xfrm>
            <a:off x="10820095" y="347472"/>
            <a:ext cx="914400" cy="292608"/>
          </a:xfrm>
          <a:prstGeom prst="roundRect">
            <a:avLst>
              <a:gd name="adj" fmla="val 20000"/>
            </a:avLst>
          </a:prstGeom>
          <a:solidFill>
            <a:srgbClr val="162248"/>
          </a:solidFill>
          <a:ln w="9525">
            <a:solidFill>
              <a:srgbClr val="1A285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4DD9CF"/>
                </a:solidFill>
                <a:latin typeface="Consolas"/>
              </a:rPr>
              <a:t>20 / 20</a:t>
            </a:r>
          </a:p>
        </p:txBody>
      </p:sp>
      <p:sp>
        <p:nvSpPr>
          <p:cNvPr id="5" name="TextBox 4"/>
          <p:cNvSpPr txBox="1"/>
          <p:nvPr/>
        </p:nvSpPr>
        <p:spPr>
          <a:xfrm>
            <a:off x="457200" y="676656"/>
            <a:ext cx="11277295" cy="548640"/>
          </a:xfrm>
          <a:prstGeom prst="rect">
            <a:avLst/>
          </a:prstGeom>
          <a:noFill/>
        </p:spPr>
        <p:txBody>
          <a:bodyPr wrap="square" anchor="t" lIns="50800" rIns="50800" tIns="25400" bIns="25400">
            <a:spAutoFit/>
          </a:bodyPr>
          <a:lstStyle/>
          <a:p>
            <a:pPr algn="l">
              <a:lnSpc>
                <a:spcPct val="115000"/>
              </a:lnSpc>
            </a:pPr>
            <a:r>
              <a:rPr sz="2400" b="1" i="0">
                <a:solidFill>
                  <a:srgbClr val="E8F4F8"/>
                </a:solidFill>
                <a:latin typeface="Inter"/>
              </a:rPr>
              <a:t>Take-Home Messages &amp; Resource Hub</a:t>
            </a:r>
          </a:p>
        </p:txBody>
      </p:sp>
      <p:sp>
        <p:nvSpPr>
          <p:cNvPr id="6" name="TextBox 5"/>
          <p:cNvSpPr txBox="1"/>
          <p:nvPr/>
        </p:nvSpPr>
        <p:spPr>
          <a:xfrm>
            <a:off x="457200" y="1225296"/>
            <a:ext cx="11277295" cy="310896"/>
          </a:xfrm>
          <a:prstGeom prst="rect">
            <a:avLst/>
          </a:prstGeom>
          <a:noFill/>
        </p:spPr>
        <p:txBody>
          <a:bodyPr wrap="square" anchor="t" lIns="50800" rIns="50800" tIns="25400" bIns="25400">
            <a:spAutoFit/>
          </a:bodyPr>
          <a:lstStyle/>
          <a:p>
            <a:pPr algn="l">
              <a:lnSpc>
                <a:spcPct val="115000"/>
              </a:lnSpc>
            </a:pPr>
            <a:r>
              <a:rPr sz="1300" b="0" i="0">
                <a:solidFill>
                  <a:srgbClr val="8BA8C4"/>
                </a:solidFill>
                <a:latin typeface="Inter"/>
              </a:rPr>
              <a:t>Holo-Hilbert Spectral Analysis expands biological time series into multi-scale reality</a:t>
            </a:r>
          </a:p>
        </p:txBody>
      </p:sp>
      <p:sp>
        <p:nvSpPr>
          <p:cNvPr id="7" name="Rounded Rectangle 6"/>
          <p:cNvSpPr/>
          <p:nvPr/>
        </p:nvSpPr>
        <p:spPr>
          <a:xfrm>
            <a:off x="457200" y="1691640"/>
            <a:ext cx="5486400" cy="44805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74520"/>
            <a:ext cx="5029200" cy="365760"/>
          </a:xfrm>
          <a:prstGeom prst="rect">
            <a:avLst/>
          </a:prstGeom>
          <a:noFill/>
        </p:spPr>
        <p:txBody>
          <a:bodyPr wrap="square" anchor="t" lIns="50800" rIns="50800" tIns="25400" bIns="25400">
            <a:spAutoFit/>
          </a:bodyPr>
          <a:lstStyle/>
          <a:p>
            <a:pPr algn="l">
              <a:lnSpc>
                <a:spcPct val="115000"/>
              </a:lnSpc>
            </a:pPr>
            <a:r>
              <a:rPr sz="1600" b="1" i="0">
                <a:solidFill>
                  <a:srgbClr val="4DD9CF"/>
                </a:solidFill>
                <a:latin typeface="Inter"/>
              </a:rPr>
              <a:t>Core Takeaways</a:t>
            </a:r>
          </a:p>
        </p:txBody>
      </p:sp>
      <p:sp>
        <p:nvSpPr>
          <p:cNvPr id="9" name="TextBox 8"/>
          <p:cNvSpPr txBox="1"/>
          <p:nvPr/>
        </p:nvSpPr>
        <p:spPr>
          <a:xfrm>
            <a:off x="685800" y="2313432"/>
            <a:ext cx="5029200" cy="731520"/>
          </a:xfrm>
          <a:prstGeom prst="rect">
            <a:avLst/>
          </a:prstGeom>
          <a:noFill/>
        </p:spPr>
        <p:txBody>
          <a:bodyPr wrap="square" anchor="t" lIns="50800" rIns="50800" tIns="25400" bIns="25400">
            <a:spAutoFit/>
          </a:bodyPr>
          <a:lstStyle/>
          <a:p>
            <a:pPr algn="l">
              <a:lnSpc>
                <a:spcPct val="115000"/>
              </a:lnSpc>
            </a:pPr>
            <a:r>
              <a:rPr sz="1250" b="0" i="0">
                <a:solidFill>
                  <a:srgbClr val="E8F4F8"/>
                </a:solidFill>
                <a:latin typeface="Inter"/>
              </a:rPr>
              <a:t>Three foundational pillars of physiological Holo-Hilbert analytics:</a:t>
            </a:r>
          </a:p>
        </p:txBody>
      </p:sp>
      <p:sp>
        <p:nvSpPr>
          <p:cNvPr id="10" name="TextBox 9"/>
          <p:cNvSpPr txBox="1"/>
          <p:nvPr/>
        </p:nvSpPr>
        <p:spPr>
          <a:xfrm>
            <a:off x="685800" y="3090672"/>
            <a:ext cx="5029200" cy="2944368"/>
          </a:xfrm>
          <a:prstGeom prst="rect">
            <a:avLst/>
          </a:prstGeom>
          <a:noFill/>
        </p:spPr>
        <p:txBody>
          <a:bodyPr wrap="square" anchor="t" lIns="50800" rIns="50800" tIns="25400" bIns="25400">
            <a:normAutofit/>
          </a:bodyPr>
          <a:lstStyle/>
          <a:p>
            <a:pPr algn="l">
              <a:lnSpc>
                <a:spcPct val="115000"/>
              </a:lnSpc>
              <a:spcAft>
                <a:spcPts val="800"/>
              </a:spcAft>
            </a:pPr>
            <a:r>
              <a:rPr sz="1200">
                <a:solidFill>
                  <a:srgbClr val="4DD9CF"/>
                </a:solidFill>
                <a:latin typeface="Inter"/>
              </a:rPr>
              <a:t>• </a:t>
            </a:r>
            <a:r>
              <a:rPr sz="1200" b="1">
                <a:solidFill>
                  <a:srgbClr val="E8F4F8"/>
                </a:solidFill>
                <a:latin typeface="Inter"/>
              </a:rPr>
              <a:t>1. Biological Signals Are Nested:</a:t>
            </a:r>
            <a:r>
              <a:rPr sz="1200">
                <a:solidFill>
                  <a:srgbClr val="8BA8C4"/>
                </a:solidFill>
                <a:latin typeface="Inter"/>
              </a:rPr>
              <a:t> Amplitude modulation is not noise; it is the fundamental language of cross-scale organ communication.</a:t>
            </a:r>
          </a:p>
          <a:p>
            <a:pPr algn="l">
              <a:lnSpc>
                <a:spcPct val="115000"/>
              </a:lnSpc>
              <a:spcAft>
                <a:spcPts val="800"/>
              </a:spcAft>
            </a:pPr>
            <a:r>
              <a:rPr sz="1200">
                <a:solidFill>
                  <a:srgbClr val="4DD9CF"/>
                </a:solidFill>
                <a:latin typeface="Inter"/>
              </a:rPr>
              <a:t>• </a:t>
            </a:r>
            <a:r>
              <a:rPr sz="1200" b="1">
                <a:solidFill>
                  <a:srgbClr val="E8F4F8"/>
                </a:solidFill>
                <a:latin typeface="Inter"/>
              </a:rPr>
              <a:t>2. HHSA Unlocks the 3rd Dimension:</a:t>
            </a:r>
            <a:r>
              <a:rPr sz="1200">
                <a:solidFill>
                  <a:srgbClr val="8BA8C4"/>
                </a:solidFill>
                <a:latin typeface="Inter"/>
              </a:rPr>
              <a:t> Decomposing twice maps continuous energy into H(t, fc, fAM), eliminating artificial Fourier sidebands and subjective PAC band-limits.</a:t>
            </a:r>
          </a:p>
          <a:p>
            <a:pPr algn="l">
              <a:lnSpc>
                <a:spcPct val="115000"/>
              </a:lnSpc>
              <a:spcAft>
                <a:spcPts val="800"/>
              </a:spcAft>
            </a:pPr>
            <a:r>
              <a:rPr sz="1200">
                <a:solidFill>
                  <a:srgbClr val="4DD9CF"/>
                </a:solidFill>
                <a:latin typeface="Inter"/>
              </a:rPr>
              <a:t>• </a:t>
            </a:r>
            <a:r>
              <a:rPr sz="1200" b="1">
                <a:solidFill>
                  <a:srgbClr val="E8F4F8"/>
                </a:solidFill>
                <a:latin typeface="Inter"/>
              </a:rPr>
              <a:t>3. Methodological Discipline is Essential:</a:t>
            </a:r>
            <a:r>
              <a:rPr sz="1200">
                <a:solidFill>
                  <a:srgbClr val="8BA8C4"/>
                </a:solidFill>
                <a:latin typeface="Inter"/>
              </a:rPr>
              <a:t> Physical validity requires strict enforcement of the admissibility condition (fAM &lt; fc) and 3-cycle duration bounds (f &gt;= 3/T).</a:t>
            </a:r>
          </a:p>
        </p:txBody>
      </p:sp>
      <p:sp>
        <p:nvSpPr>
          <p:cNvPr id="11" name="Rounded Rectangle 10"/>
          <p:cNvSpPr/>
          <p:nvPr/>
        </p:nvSpPr>
        <p:spPr>
          <a:xfrm>
            <a:off x="6248095" y="1691640"/>
            <a:ext cx="5486400" cy="4480560"/>
          </a:xfrm>
          <a:prstGeom prst="roundRect">
            <a:avLst>
              <a:gd name="adj" fmla="val 3000"/>
            </a:avLst>
          </a:prstGeom>
          <a:solidFill>
            <a:srgbClr val="111D3C"/>
          </a:solidFill>
          <a:ln w="9525">
            <a:solidFill>
              <a:srgbClr val="233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6695" y="1874520"/>
            <a:ext cx="5029200" cy="365760"/>
          </a:xfrm>
          <a:prstGeom prst="rect">
            <a:avLst/>
          </a:prstGeom>
          <a:noFill/>
        </p:spPr>
        <p:txBody>
          <a:bodyPr wrap="square" anchor="t" lIns="50800" rIns="50800" tIns="25400" bIns="25400">
            <a:spAutoFit/>
          </a:bodyPr>
          <a:lstStyle/>
          <a:p>
            <a:pPr algn="l">
              <a:lnSpc>
                <a:spcPct val="115000"/>
              </a:lnSpc>
            </a:pPr>
            <a:r>
              <a:rPr sz="1600" b="1" i="0">
                <a:solidFill>
                  <a:srgbClr val="A78BFA"/>
                </a:solidFill>
                <a:latin typeface="Inter"/>
              </a:rPr>
              <a:t>Project Ecosystem &amp; Links</a:t>
            </a:r>
          </a:p>
        </p:txBody>
      </p:sp>
      <p:sp>
        <p:nvSpPr>
          <p:cNvPr id="13" name="TextBox 12"/>
          <p:cNvSpPr txBox="1"/>
          <p:nvPr/>
        </p:nvSpPr>
        <p:spPr>
          <a:xfrm>
            <a:off x="6476695" y="2313432"/>
            <a:ext cx="5029200" cy="731520"/>
          </a:xfrm>
          <a:prstGeom prst="rect">
            <a:avLst/>
          </a:prstGeom>
          <a:noFill/>
        </p:spPr>
        <p:txBody>
          <a:bodyPr wrap="square" anchor="t" lIns="50800" rIns="50800" tIns="25400" bIns="25400">
            <a:spAutoFit/>
          </a:bodyPr>
          <a:lstStyle/>
          <a:p>
            <a:pPr algn="l">
              <a:lnSpc>
                <a:spcPct val="115000"/>
              </a:lnSpc>
            </a:pPr>
            <a:r>
              <a:rPr sz="1250" b="0" i="0">
                <a:solidFill>
                  <a:srgbClr val="E8F4F8"/>
                </a:solidFill>
                <a:latin typeface="Inter"/>
              </a:rPr>
              <a:t>Open resources, manuscript, and interactive explorer:</a:t>
            </a:r>
          </a:p>
        </p:txBody>
      </p:sp>
      <p:sp>
        <p:nvSpPr>
          <p:cNvPr id="14" name="TextBox 13"/>
          <p:cNvSpPr txBox="1"/>
          <p:nvPr/>
        </p:nvSpPr>
        <p:spPr>
          <a:xfrm>
            <a:off x="6476695" y="3090672"/>
            <a:ext cx="5029200" cy="2944368"/>
          </a:xfrm>
          <a:prstGeom prst="rect">
            <a:avLst/>
          </a:prstGeom>
          <a:noFill/>
        </p:spPr>
        <p:txBody>
          <a:bodyPr wrap="square" anchor="t" lIns="50800" rIns="50800" tIns="25400" bIns="25400">
            <a:normAutofit/>
          </a:bodyPr>
          <a:lstStyle/>
          <a:p>
            <a:pPr algn="l">
              <a:lnSpc>
                <a:spcPct val="115000"/>
              </a:lnSpc>
              <a:spcAft>
                <a:spcPts val="800"/>
              </a:spcAft>
            </a:pPr>
            <a:r>
              <a:rPr sz="1200">
                <a:solidFill>
                  <a:srgbClr val="4DD9CF"/>
                </a:solidFill>
                <a:latin typeface="Inter"/>
              </a:rPr>
              <a:t>• </a:t>
            </a:r>
            <a:r>
              <a:rPr sz="1200" b="1">
                <a:solidFill>
                  <a:srgbClr val="E8F4F8"/>
                </a:solidFill>
                <a:latin typeface="Inter"/>
              </a:rPr>
              <a:t>🚀 3-D Holo-Hilbert Interactive Web Explorer:</a:t>
            </a:r>
            <a:r>
              <a:rPr sz="1200">
                <a:solidFill>
                  <a:srgbClr val="8BA8C4"/>
                </a:solidFill>
                <a:latin typeface="Inter"/>
              </a:rPr>
              <a:t> https://ckt520728.github.io/kidney-cognition-lab/hhsa-3d/explorer.html</a:t>
            </a:r>
          </a:p>
          <a:p>
            <a:pPr algn="l">
              <a:lnSpc>
                <a:spcPct val="115000"/>
              </a:lnSpc>
              <a:spcAft>
                <a:spcPts val="800"/>
              </a:spcAft>
            </a:pPr>
            <a:r>
              <a:rPr sz="1200">
                <a:solidFill>
                  <a:srgbClr val="4DD9CF"/>
                </a:solidFill>
                <a:latin typeface="Inter"/>
              </a:rPr>
              <a:t>• </a:t>
            </a:r>
            <a:r>
              <a:rPr sz="1200" b="1">
                <a:solidFill>
                  <a:srgbClr val="E8F4F8"/>
                </a:solidFill>
                <a:latin typeface="Inter"/>
              </a:rPr>
              <a:t>🏠 Kidney &amp; Cognition Lab Project Portal:</a:t>
            </a:r>
            <a:r>
              <a:rPr sz="1200">
                <a:solidFill>
                  <a:srgbClr val="8BA8C4"/>
                </a:solidFill>
                <a:latin typeface="Inter"/>
              </a:rPr>
              <a:t> https://ckt520728.github.io/kidney-cognition-lab/hhsa-3d/</a:t>
            </a:r>
          </a:p>
          <a:p>
            <a:pPr algn="l">
              <a:lnSpc>
                <a:spcPct val="115000"/>
              </a:lnSpc>
              <a:spcAft>
                <a:spcPts val="800"/>
              </a:spcAft>
            </a:pPr>
            <a:r>
              <a:rPr sz="1200">
                <a:solidFill>
                  <a:srgbClr val="4DD9CF"/>
                </a:solidFill>
                <a:latin typeface="Inter"/>
              </a:rPr>
              <a:t>• </a:t>
            </a:r>
            <a:r>
              <a:rPr sz="1200" b="1">
                <a:solidFill>
                  <a:srgbClr val="E8F4F8"/>
                </a:solidFill>
                <a:latin typeface="Inter"/>
              </a:rPr>
              <a:t>📄 Narrative Review Manuscript:</a:t>
            </a:r>
            <a:r>
              <a:rPr sz="1200">
                <a:solidFill>
                  <a:srgbClr val="8BA8C4"/>
                </a:solidFill>
                <a:latin typeface="Inter"/>
              </a:rPr>
              <a:t> Chu KT (2026). Using HHSA to Unravel the Physiological Secrets of Body Signals. Frontiers in Aging Neuroscience (In prep).</a:t>
            </a:r>
          </a:p>
          <a:p>
            <a:pPr algn="l">
              <a:lnSpc>
                <a:spcPct val="115000"/>
              </a:lnSpc>
              <a:spcAft>
                <a:spcPts val="800"/>
              </a:spcAft>
            </a:pPr>
            <a:r>
              <a:rPr sz="1200">
                <a:solidFill>
                  <a:srgbClr val="4DD9CF"/>
                </a:solidFill>
                <a:latin typeface="Inter"/>
              </a:rPr>
              <a:t>• </a:t>
            </a:r>
            <a:r>
              <a:rPr sz="1200" b="1">
                <a:solidFill>
                  <a:srgbClr val="E8F4F8"/>
                </a:solidFill>
                <a:latin typeface="Inter"/>
              </a:rPr>
              <a:t>📖 Chinese Educational Deep Dive:</a:t>
            </a:r>
            <a:r>
              <a:rPr sz="1200">
                <a:solidFill>
                  <a:srgbClr val="8BA8C4"/>
                </a:solidFill>
                <a:latin typeface="Inter"/>
              </a:rPr>
              <a:t> Lab blog: 以全息希爾伯特頻譜解構人體訊號的生理密碼.</a:t>
            </a:r>
          </a:p>
        </p:txBody>
      </p:sp>
      <p:sp>
        <p:nvSpPr>
          <p:cNvPr id="15" name="TextBox 14"/>
          <p:cNvSpPr txBox="1"/>
          <p:nvPr/>
        </p:nvSpPr>
        <p:spPr>
          <a:xfrm>
            <a:off x="457200" y="6510528"/>
            <a:ext cx="9601200" cy="256032"/>
          </a:xfrm>
          <a:prstGeom prst="rect">
            <a:avLst/>
          </a:prstGeom>
          <a:noFill/>
        </p:spPr>
        <p:txBody>
          <a:bodyPr wrap="square" anchor="t" lIns="50800" rIns="50800" tIns="25400" bIns="25400">
            <a:spAutoFit/>
          </a:bodyPr>
          <a:lstStyle/>
          <a:p>
            <a:pPr algn="l">
              <a:lnSpc>
                <a:spcPct val="115000"/>
              </a:lnSpc>
            </a:pPr>
            <a:r>
              <a:rPr sz="950" b="0" i="0">
                <a:solidFill>
                  <a:srgbClr val="4A6580"/>
                </a:solidFill>
                <a:latin typeface="Inter"/>
              </a:rPr>
              <a:t>HHSA Body Signals Deck • Kidney &amp; Cognition Lab • Chu (2026) • Frontiers in Aging Neuroscience Review</a:t>
            </a:r>
          </a:p>
        </p:txBody>
      </p:sp>
      <p:sp>
        <p:nvSpPr>
          <p:cNvPr id="16" name="TextBox 15"/>
          <p:cNvSpPr txBox="1"/>
          <p:nvPr/>
        </p:nvSpPr>
        <p:spPr>
          <a:xfrm>
            <a:off x="10362895" y="6510528"/>
            <a:ext cx="1371600" cy="256032"/>
          </a:xfrm>
          <a:prstGeom prst="rect">
            <a:avLst/>
          </a:prstGeom>
          <a:noFill/>
        </p:spPr>
        <p:txBody>
          <a:bodyPr wrap="square" anchor="t" lIns="50800" rIns="50800" tIns="25400" bIns="25400">
            <a:spAutoFit/>
          </a:bodyPr>
          <a:lstStyle/>
          <a:p>
            <a:pPr algn="r">
              <a:lnSpc>
                <a:spcPct val="115000"/>
              </a:lnSpc>
            </a:pPr>
            <a:r>
              <a:rPr sz="950" b="0" i="0">
                <a:solidFill>
                  <a:srgbClr val="4A6580"/>
                </a:solidFill>
                <a:latin typeface="Inter"/>
              </a:rPr>
              <a:t>Slide 20 of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